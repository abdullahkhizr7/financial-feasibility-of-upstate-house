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7" r:id="rId7"/>
    <p:sldId id="263" r:id="rId8"/>
    <p:sldId id="268" r:id="rId9"/>
    <p:sldId id="269" r:id="rId10"/>
    <p:sldId id="270" r:id="rId11"/>
    <p:sldId id="271"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8" d="100"/>
          <a:sy n="108" d="100"/>
        </p:scale>
        <p:origin x="30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doughnutChart>
        <c:varyColors val="1"/>
        <c:ser>
          <c:idx val="0"/>
          <c:order val="0"/>
          <c:tx>
            <c:strRef>
              <c:f>Sheet1!$B$1</c:f>
              <c:strCache>
                <c:ptCount val="1"/>
                <c:pt idx="0">
                  <c:v>TDC Breakdown</c:v>
                </c:pt>
              </c:strCache>
            </c:strRef>
          </c:tx>
          <c:spPr>
            <a:solidFill>
              <a:schemeClr val="accent1"/>
            </a:solidFill>
            <a:ln w="9525" cap="flat">
              <a:solidFill>
                <a:srgbClr val="F9F9F9"/>
              </a:solidFill>
              <a:prstDash val="solid"/>
              <a:round/>
            </a:ln>
            <a:effectLst/>
          </c:spPr>
          <c:dPt>
            <c:idx val="0"/>
            <c:bubble3D val="0"/>
            <c:spPr>
              <a:solidFill>
                <a:srgbClr val="2D4EA2"/>
              </a:solidFill>
              <a:effectLst/>
            </c:spPr>
            <c:extLst>
              <c:ext xmlns:c16="http://schemas.microsoft.com/office/drawing/2014/chart" uri="{C3380CC4-5D6E-409C-BE32-E72D297353CC}">
                <c16:uniqueId val="{00000001-849F-4B53-A380-28BFD1175340}"/>
              </c:ext>
            </c:extLst>
          </c:dPt>
          <c:dPt>
            <c:idx val="1"/>
            <c:bubble3D val="0"/>
            <c:spPr>
              <a:solidFill>
                <a:srgbClr val="4A7EC0"/>
              </a:solidFill>
              <a:effectLst/>
            </c:spPr>
            <c:extLst>
              <c:ext xmlns:c16="http://schemas.microsoft.com/office/drawing/2014/chart" uri="{C3380CC4-5D6E-409C-BE32-E72D297353CC}">
                <c16:uniqueId val="{00000003-849F-4B53-A380-28BFD1175340}"/>
              </c:ext>
            </c:extLst>
          </c:dPt>
          <c:dPt>
            <c:idx val="2"/>
            <c:bubble3D val="0"/>
            <c:spPr>
              <a:solidFill>
                <a:srgbClr val="6FA0D4"/>
              </a:solidFill>
              <a:effectLst/>
            </c:spPr>
            <c:extLst>
              <c:ext xmlns:c16="http://schemas.microsoft.com/office/drawing/2014/chart" uri="{C3380CC4-5D6E-409C-BE32-E72D297353CC}">
                <c16:uniqueId val="{00000005-849F-4B53-A380-28BFD1175340}"/>
              </c:ext>
            </c:extLst>
          </c:dPt>
          <c:dPt>
            <c:idx val="3"/>
            <c:bubble3D val="0"/>
            <c:spPr>
              <a:solidFill>
                <a:srgbClr val="9DC0E0"/>
              </a:solidFill>
              <a:effectLst/>
            </c:spPr>
            <c:extLst>
              <c:ext xmlns:c16="http://schemas.microsoft.com/office/drawing/2014/chart" uri="{C3380CC4-5D6E-409C-BE32-E72D297353CC}">
                <c16:uniqueId val="{00000007-849F-4B53-A380-28BFD1175340}"/>
              </c:ext>
            </c:extLst>
          </c:dPt>
          <c:dPt>
            <c:idx val="4"/>
            <c:bubble3D val="0"/>
            <c:spPr>
              <a:solidFill>
                <a:srgbClr val="C8D8EC"/>
              </a:solidFill>
              <a:effectLst/>
            </c:spPr>
            <c:extLst>
              <c:ext xmlns:c16="http://schemas.microsoft.com/office/drawing/2014/chart" uri="{C3380CC4-5D6E-409C-BE32-E72D297353CC}">
                <c16:uniqueId val="{00000009-849F-4B53-A380-28BFD1175340}"/>
              </c:ext>
            </c:extLst>
          </c:dPt>
          <c:cat>
            <c:strRef>
              <c:f>Sheet1!$A$2:$A$6</c:f>
              <c:strCache>
                <c:ptCount val="5"/>
                <c:pt idx="0">
                  <c:v>Hard Construction
$165.5M  66.5%</c:v>
                </c:pt>
                <c:pt idx="1">
                  <c:v>Developer Fee
$47.2M  19.0%</c:v>
                </c:pt>
                <c:pt idx="2">
                  <c:v>Soft Costs
$18.0M  7.2%</c:v>
                </c:pt>
                <c:pt idx="3">
                  <c:v>Acquisition
$10.6M  4.3%</c:v>
                </c:pt>
                <c:pt idx="4">
                  <c:v>Finance &amp; Carrying
$7.4M  3.0%</c:v>
                </c:pt>
              </c:strCache>
            </c:strRef>
          </c:cat>
          <c:val>
            <c:numRef>
              <c:f>Sheet1!$B$2:$B$6</c:f>
              <c:numCache>
                <c:formatCode>General</c:formatCode>
                <c:ptCount val="5"/>
                <c:pt idx="0">
                  <c:v>165500000</c:v>
                </c:pt>
                <c:pt idx="1">
                  <c:v>47200000</c:v>
                </c:pt>
                <c:pt idx="2">
                  <c:v>18000000</c:v>
                </c:pt>
                <c:pt idx="3">
                  <c:v>10600000</c:v>
                </c:pt>
                <c:pt idx="4">
                  <c:v>7400000</c:v>
                </c:pt>
              </c:numCache>
            </c:numRef>
          </c:val>
          <c:extLst>
            <c:ext xmlns:c16="http://schemas.microsoft.com/office/drawing/2014/chart" uri="{C3380CC4-5D6E-409C-BE32-E72D297353CC}">
              <c16:uniqueId val="{0000000A-849F-4B53-A380-28BFD1175340}"/>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layout>
        <c:manualLayout>
          <c:xMode val="edge"/>
          <c:yMode val="edge"/>
          <c:x val="0.05"/>
          <c:y val="0.88215073968026714"/>
          <c:w val="0.9"/>
          <c:h val="9.8909866380338801E-2"/>
        </c:manualLayout>
      </c:layout>
      <c:overlay val="0"/>
      <c:txPr>
        <a:bodyPr/>
        <a:lstStyle/>
        <a:p>
          <a:pPr>
            <a:defRPr sz="800"/>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doughnutChart>
        <c:varyColors val="1"/>
        <c:ser>
          <c:idx val="0"/>
          <c:order val="0"/>
          <c:tx>
            <c:strRef>
              <c:f>Sheet1!$B$1</c:f>
              <c:strCache>
                <c:ptCount val="1"/>
                <c:pt idx="0">
                  <c:v>Construction Sources</c:v>
                </c:pt>
              </c:strCache>
            </c:strRef>
          </c:tx>
          <c:spPr>
            <a:solidFill>
              <a:schemeClr val="accent1"/>
            </a:solidFill>
            <a:ln w="9525" cap="flat">
              <a:solidFill>
                <a:srgbClr val="F9F9F9"/>
              </a:solidFill>
              <a:prstDash val="solid"/>
              <a:round/>
            </a:ln>
            <a:effectLst/>
          </c:spPr>
          <c:dPt>
            <c:idx val="0"/>
            <c:bubble3D val="0"/>
            <c:spPr>
              <a:solidFill>
                <a:srgbClr val="2D4EA2"/>
              </a:solidFill>
              <a:effectLst/>
            </c:spPr>
            <c:extLst>
              <c:ext xmlns:c16="http://schemas.microsoft.com/office/drawing/2014/chart" uri="{C3380CC4-5D6E-409C-BE32-E72D297353CC}">
                <c16:uniqueId val="{00000001-5AB3-4948-8599-E1128D010307}"/>
              </c:ext>
            </c:extLst>
          </c:dPt>
          <c:dPt>
            <c:idx val="1"/>
            <c:bubble3D val="0"/>
            <c:spPr>
              <a:solidFill>
                <a:srgbClr val="4A7EC0"/>
              </a:solidFill>
              <a:effectLst/>
            </c:spPr>
            <c:extLst>
              <c:ext xmlns:c16="http://schemas.microsoft.com/office/drawing/2014/chart" uri="{C3380CC4-5D6E-409C-BE32-E72D297353CC}">
                <c16:uniqueId val="{00000003-5AB3-4948-8599-E1128D010307}"/>
              </c:ext>
            </c:extLst>
          </c:dPt>
          <c:dPt>
            <c:idx val="2"/>
            <c:bubble3D val="0"/>
            <c:spPr>
              <a:solidFill>
                <a:srgbClr val="9DC0E0"/>
              </a:solidFill>
              <a:effectLst/>
            </c:spPr>
            <c:extLst>
              <c:ext xmlns:c16="http://schemas.microsoft.com/office/drawing/2014/chart" uri="{C3380CC4-5D6E-409C-BE32-E72D297353CC}">
                <c16:uniqueId val="{00000005-5AB3-4948-8599-E1128D010307}"/>
              </c:ext>
            </c:extLst>
          </c:dPt>
          <c:cat>
            <c:strRef>
              <c:f>Sheet1!$A$2:$A$4</c:f>
              <c:strCache>
                <c:ptCount val="3"/>
                <c:pt idx="0">
                  <c:v>HFA Const. Loan  54.1%</c:v>
                </c:pt>
                <c:pt idx="1">
                  <c:v>LIHTC Equity  42.7%</c:v>
                </c:pt>
                <c:pt idx="2">
                  <c:v>Other  3.2%</c:v>
                </c:pt>
              </c:strCache>
            </c:strRef>
          </c:cat>
          <c:val>
            <c:numRef>
              <c:f>Sheet1!$B$2:$B$4</c:f>
              <c:numCache>
                <c:formatCode>General</c:formatCode>
                <c:ptCount val="3"/>
                <c:pt idx="0">
                  <c:v>134614890</c:v>
                </c:pt>
                <c:pt idx="1">
                  <c:v>106304000</c:v>
                </c:pt>
                <c:pt idx="2">
                  <c:v>7823448</c:v>
                </c:pt>
              </c:numCache>
            </c:numRef>
          </c:val>
          <c:extLst>
            <c:ext xmlns:c16="http://schemas.microsoft.com/office/drawing/2014/chart" uri="{C3380CC4-5D6E-409C-BE32-E72D297353CC}">
              <c16:uniqueId val="{00000006-5AB3-4948-8599-E1128D010307}"/>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800"/>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doughnutChart>
        <c:varyColors val="1"/>
        <c:ser>
          <c:idx val="0"/>
          <c:order val="0"/>
          <c:tx>
            <c:strRef>
              <c:f>Sheet1!$B$1</c:f>
              <c:strCache>
                <c:ptCount val="1"/>
                <c:pt idx="0">
                  <c:v>Permanent Sources</c:v>
                </c:pt>
              </c:strCache>
            </c:strRef>
          </c:tx>
          <c:spPr>
            <a:solidFill>
              <a:schemeClr val="accent1"/>
            </a:solidFill>
            <a:ln w="9525" cap="flat">
              <a:solidFill>
                <a:srgbClr val="F9F9F9"/>
              </a:solidFill>
              <a:prstDash val="solid"/>
              <a:round/>
            </a:ln>
            <a:effectLst/>
          </c:spPr>
          <c:dPt>
            <c:idx val="0"/>
            <c:bubble3D val="0"/>
            <c:spPr>
              <a:solidFill>
                <a:srgbClr val="2D4EA2"/>
              </a:solidFill>
              <a:effectLst/>
            </c:spPr>
            <c:extLst>
              <c:ext xmlns:c16="http://schemas.microsoft.com/office/drawing/2014/chart" uri="{C3380CC4-5D6E-409C-BE32-E72D297353CC}">
                <c16:uniqueId val="{00000001-24EE-4DE0-A363-2C6BCC8C57C8}"/>
              </c:ext>
            </c:extLst>
          </c:dPt>
          <c:dPt>
            <c:idx val="1"/>
            <c:bubble3D val="0"/>
            <c:spPr>
              <a:solidFill>
                <a:srgbClr val="4A7EC0"/>
              </a:solidFill>
              <a:effectLst/>
            </c:spPr>
            <c:extLst>
              <c:ext xmlns:c16="http://schemas.microsoft.com/office/drawing/2014/chart" uri="{C3380CC4-5D6E-409C-BE32-E72D297353CC}">
                <c16:uniqueId val="{00000003-24EE-4DE0-A363-2C6BCC8C57C8}"/>
              </c:ext>
            </c:extLst>
          </c:dPt>
          <c:dPt>
            <c:idx val="2"/>
            <c:bubble3D val="0"/>
            <c:spPr>
              <a:solidFill>
                <a:srgbClr val="6FA0D4"/>
              </a:solidFill>
              <a:effectLst/>
            </c:spPr>
            <c:extLst>
              <c:ext xmlns:c16="http://schemas.microsoft.com/office/drawing/2014/chart" uri="{C3380CC4-5D6E-409C-BE32-E72D297353CC}">
                <c16:uniqueId val="{00000005-24EE-4DE0-A363-2C6BCC8C57C8}"/>
              </c:ext>
            </c:extLst>
          </c:dPt>
          <c:dPt>
            <c:idx val="3"/>
            <c:bubble3D val="0"/>
            <c:spPr>
              <a:solidFill>
                <a:srgbClr val="9DC0E0"/>
              </a:solidFill>
              <a:effectLst/>
            </c:spPr>
            <c:extLst>
              <c:ext xmlns:c16="http://schemas.microsoft.com/office/drawing/2014/chart" uri="{C3380CC4-5D6E-409C-BE32-E72D297353CC}">
                <c16:uniqueId val="{00000007-24EE-4DE0-A363-2C6BCC8C57C8}"/>
              </c:ext>
            </c:extLst>
          </c:dPt>
          <c:dPt>
            <c:idx val="4"/>
            <c:bubble3D val="0"/>
            <c:spPr>
              <a:solidFill>
                <a:srgbClr val="C8D8EC"/>
              </a:solidFill>
              <a:effectLst/>
            </c:spPr>
            <c:extLst>
              <c:ext xmlns:c16="http://schemas.microsoft.com/office/drawing/2014/chart" uri="{C3380CC4-5D6E-409C-BE32-E72D297353CC}">
                <c16:uniqueId val="{00000009-24EE-4DE0-A363-2C6BCC8C57C8}"/>
              </c:ext>
            </c:extLst>
          </c:dPt>
          <c:cat>
            <c:strRef>
              <c:f>Sheet1!$A$2:$A$6</c:f>
              <c:strCache>
                <c:ptCount val="5"/>
                <c:pt idx="0">
                  <c:v>4% LIHTC Equity  42.7%</c:v>
                </c:pt>
                <c:pt idx="1">
                  <c:v>HPD NCF Subsidy  21.1%</c:v>
                </c:pt>
                <c:pt idx="2">
                  <c:v>HFA Perm. Mortgage  19.0%</c:v>
                </c:pt>
                <c:pt idx="3">
                  <c:v>Deferred Dev. Fee  3.2%</c:v>
                </c:pt>
                <c:pt idx="4">
                  <c:v>Other  14.0%</c:v>
                </c:pt>
              </c:strCache>
            </c:strRef>
          </c:cat>
          <c:val>
            <c:numRef>
              <c:f>Sheet1!$B$2:$B$6</c:f>
              <c:numCache>
                <c:formatCode>General</c:formatCode>
                <c:ptCount val="5"/>
                <c:pt idx="0">
                  <c:v>106304000</c:v>
                </c:pt>
                <c:pt idx="1">
                  <c:v>52480000</c:v>
                </c:pt>
                <c:pt idx="2">
                  <c:v>47186010</c:v>
                </c:pt>
                <c:pt idx="3">
                  <c:v>7952000</c:v>
                </c:pt>
                <c:pt idx="4">
                  <c:v>34820328</c:v>
                </c:pt>
              </c:numCache>
            </c:numRef>
          </c:val>
          <c:extLst>
            <c:ext xmlns:c16="http://schemas.microsoft.com/office/drawing/2014/chart" uri="{C3380CC4-5D6E-409C-BE32-E72D297353CC}">
              <c16:uniqueId val="{0000000A-24EE-4DE0-A363-2C6BCC8C57C8}"/>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layout>
        <c:manualLayout>
          <c:xMode val="edge"/>
          <c:yMode val="edge"/>
          <c:x val="0.19950498285415472"/>
          <c:y val="0.74627045700169836"/>
          <c:w val="0.69677547490471736"/>
          <c:h val="0.22309228809634091"/>
        </c:manualLayout>
      </c:layout>
      <c:overlay val="0"/>
      <c:txPr>
        <a:bodyPr/>
        <a:lstStyle/>
        <a:p>
          <a:pPr>
            <a:defRPr sz="750"/>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1"/>
        <c:ser>
          <c:idx val="0"/>
          <c:order val="0"/>
          <c:tx>
            <c:strRef>
              <c:f>Sheet1!$B$1</c:f>
              <c:strCache>
                <c:ptCount val="1"/>
                <c:pt idx="0">
                  <c:v>Property Value ($M)</c:v>
                </c:pt>
              </c:strCache>
            </c:strRef>
          </c:tx>
          <c:spPr>
            <a:solidFill>
              <a:srgbClr val="2D4EA2"/>
            </a:solidFill>
            <a:ln>
              <a:noFill/>
            </a:ln>
          </c:spPr>
          <c:invertIfNegative val="1"/>
          <c:dLbls>
            <c:dLbl>
              <c:idx val="0"/>
              <c:spPr/>
              <c:txPr>
                <a:bodyPr/>
                <a:lstStyle/>
                <a:p>
                  <a:pPr>
                    <a:defRPr sz="700">
                      <a:solidFill>
                        <a:srgbClr val="1A2744"/>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A9A-41FA-835C-9F018C92A3B2}"/>
                </c:ext>
              </c:extLst>
            </c:dLbl>
            <c:dLbl>
              <c:idx val="4"/>
              <c:spPr/>
              <c:txPr>
                <a:bodyPr/>
                <a:lstStyle/>
                <a:p>
                  <a:pPr>
                    <a:defRPr sz="700">
                      <a:solidFill>
                        <a:srgbClr val="1A2744"/>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A9A-41FA-835C-9F018C92A3B2}"/>
                </c:ext>
              </c:extLst>
            </c:dLbl>
            <c:dLbl>
              <c:idx val="9"/>
              <c:spPr/>
              <c:txPr>
                <a:bodyPr/>
                <a:lstStyle/>
                <a:p>
                  <a:pPr>
                    <a:defRPr sz="700">
                      <a:solidFill>
                        <a:srgbClr val="1A2744"/>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A9A-41FA-835C-9F018C92A3B2}"/>
                </c:ext>
              </c:extLst>
            </c:dLbl>
            <c:dLbl>
              <c:idx val="14"/>
              <c:spPr/>
              <c:txPr>
                <a:bodyPr/>
                <a:lstStyle/>
                <a:p>
                  <a:pPr>
                    <a:defRPr sz="700">
                      <a:solidFill>
                        <a:srgbClr val="1A2744"/>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FA9A-41FA-835C-9F018C92A3B2}"/>
                </c:ext>
              </c:extLst>
            </c:dLbl>
            <c:dLbl>
              <c:idx val="19"/>
              <c:spPr/>
              <c:txPr>
                <a:bodyPr/>
                <a:lstStyle/>
                <a:p>
                  <a:pPr>
                    <a:defRPr sz="700">
                      <a:solidFill>
                        <a:srgbClr val="1A2744"/>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A9A-41FA-835C-9F018C92A3B2}"/>
                </c:ext>
              </c:extLst>
            </c:dLbl>
            <c:dLbl>
              <c:idx val="24"/>
              <c:spPr/>
              <c:txPr>
                <a:bodyPr/>
                <a:lstStyle/>
                <a:p>
                  <a:pPr>
                    <a:defRPr sz="700">
                      <a:solidFill>
                        <a:srgbClr val="1A2744"/>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A9A-41FA-835C-9F018C92A3B2}"/>
                </c:ext>
              </c:extLst>
            </c:dLbl>
            <c:dLbl>
              <c:idx val="29"/>
              <c:spPr/>
              <c:txPr>
                <a:bodyPr/>
                <a:lstStyle/>
                <a:p>
                  <a:pPr>
                    <a:defRPr sz="700">
                      <a:solidFill>
                        <a:srgbClr val="1A2744"/>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FA9A-41FA-835C-9F018C92A3B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Sheet1!$A$2:$A$31</c:f>
              <c:strCache>
                <c:ptCount val="30"/>
                <c:pt idx="0">
                  <c:v>2029</c:v>
                </c:pt>
                <c:pt idx="1">
                  <c:v>2030</c:v>
                </c:pt>
                <c:pt idx="2">
                  <c:v>2031</c:v>
                </c:pt>
                <c:pt idx="3">
                  <c:v>2032</c:v>
                </c:pt>
                <c:pt idx="4">
                  <c:v>2033</c:v>
                </c:pt>
                <c:pt idx="5">
                  <c:v>2034</c:v>
                </c:pt>
                <c:pt idx="6">
                  <c:v>2035</c:v>
                </c:pt>
                <c:pt idx="7">
                  <c:v>2036</c:v>
                </c:pt>
                <c:pt idx="8">
                  <c:v>2037</c:v>
                </c:pt>
                <c:pt idx="9">
                  <c:v>2038</c:v>
                </c:pt>
                <c:pt idx="10">
                  <c:v>2039</c:v>
                </c:pt>
                <c:pt idx="11">
                  <c:v>2040</c:v>
                </c:pt>
                <c:pt idx="12">
                  <c:v>2041</c:v>
                </c:pt>
                <c:pt idx="13">
                  <c:v>2042</c:v>
                </c:pt>
                <c:pt idx="14">
                  <c:v>2043</c:v>
                </c:pt>
                <c:pt idx="15">
                  <c:v>2044</c:v>
                </c:pt>
                <c:pt idx="16">
                  <c:v>2045</c:v>
                </c:pt>
                <c:pt idx="17">
                  <c:v>2046</c:v>
                </c:pt>
                <c:pt idx="18">
                  <c:v>2047</c:v>
                </c:pt>
                <c:pt idx="19">
                  <c:v>2048</c:v>
                </c:pt>
                <c:pt idx="20">
                  <c:v>2049</c:v>
                </c:pt>
                <c:pt idx="21">
                  <c:v>2050</c:v>
                </c:pt>
                <c:pt idx="22">
                  <c:v>2051</c:v>
                </c:pt>
                <c:pt idx="23">
                  <c:v>2052</c:v>
                </c:pt>
                <c:pt idx="24">
                  <c:v>2053</c:v>
                </c:pt>
                <c:pt idx="25">
                  <c:v>2054</c:v>
                </c:pt>
                <c:pt idx="26">
                  <c:v>2055</c:v>
                </c:pt>
                <c:pt idx="27">
                  <c:v>2056</c:v>
                </c:pt>
                <c:pt idx="28">
                  <c:v>2057</c:v>
                </c:pt>
                <c:pt idx="29">
                  <c:v>2058</c:v>
                </c:pt>
              </c:strCache>
            </c:strRef>
          </c:cat>
          <c:val>
            <c:numRef>
              <c:f>Sheet1!$B$2:$B$31</c:f>
              <c:numCache>
                <c:formatCode>General</c:formatCode>
                <c:ptCount val="30"/>
                <c:pt idx="0">
                  <c:v>58.597000000000001</c:v>
                </c:pt>
                <c:pt idx="1">
                  <c:v>59.292000000000002</c:v>
                </c:pt>
                <c:pt idx="2">
                  <c:v>59.985999999999997</c:v>
                </c:pt>
                <c:pt idx="3">
                  <c:v>60.679000000000002</c:v>
                </c:pt>
                <c:pt idx="4">
                  <c:v>61.371000000000002</c:v>
                </c:pt>
                <c:pt idx="5">
                  <c:v>62.061999999999998</c:v>
                </c:pt>
                <c:pt idx="6">
                  <c:v>62.75</c:v>
                </c:pt>
                <c:pt idx="7">
                  <c:v>63.435000000000002</c:v>
                </c:pt>
                <c:pt idx="8">
                  <c:v>64.116</c:v>
                </c:pt>
                <c:pt idx="9">
                  <c:v>64.793999999999997</c:v>
                </c:pt>
                <c:pt idx="10">
                  <c:v>65.466999999999999</c:v>
                </c:pt>
                <c:pt idx="11">
                  <c:v>66.135000000000005</c:v>
                </c:pt>
                <c:pt idx="12">
                  <c:v>66.796999999999997</c:v>
                </c:pt>
                <c:pt idx="13">
                  <c:v>67.453000000000003</c:v>
                </c:pt>
                <c:pt idx="14">
                  <c:v>68.100999999999999</c:v>
                </c:pt>
                <c:pt idx="15">
                  <c:v>68.741</c:v>
                </c:pt>
                <c:pt idx="16">
                  <c:v>69.372</c:v>
                </c:pt>
                <c:pt idx="17">
                  <c:v>69.994</c:v>
                </c:pt>
                <c:pt idx="18">
                  <c:v>70.605000000000004</c:v>
                </c:pt>
                <c:pt idx="19">
                  <c:v>71.203999999999994</c:v>
                </c:pt>
                <c:pt idx="20">
                  <c:v>71.792000000000002</c:v>
                </c:pt>
                <c:pt idx="21">
                  <c:v>72.364999999999995</c:v>
                </c:pt>
                <c:pt idx="22">
                  <c:v>72.924999999999997</c:v>
                </c:pt>
                <c:pt idx="23">
                  <c:v>73.468999999999994</c:v>
                </c:pt>
                <c:pt idx="24">
                  <c:v>73.995999999999995</c:v>
                </c:pt>
                <c:pt idx="25">
                  <c:v>74.506</c:v>
                </c:pt>
                <c:pt idx="26">
                  <c:v>74.997</c:v>
                </c:pt>
                <c:pt idx="27">
                  <c:v>75.468000000000004</c:v>
                </c:pt>
                <c:pt idx="28">
                  <c:v>75.917000000000002</c:v>
                </c:pt>
                <c:pt idx="29">
                  <c:v>76.343000000000004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7-FA9A-41FA-835C-9F018C92A3B2}"/>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750">
                <a:solidFill>
                  <a:srgbClr val="6B7A96"/>
                </a:solidFill>
              </a:defRPr>
            </a:pPr>
            <a:endParaRPr lang="en-US"/>
          </a:p>
        </c:txPr>
        <c:crossAx val="-2113994440"/>
        <c:crosses val="autoZero"/>
        <c:auto val="1"/>
        <c:lblAlgn val="ctr"/>
        <c:lblOffset val="100"/>
        <c:tickLblSkip val="4"/>
        <c:tickMarkSkip val="1"/>
        <c:noMultiLvlLbl val="0"/>
      </c:catAx>
      <c:valAx>
        <c:axId val="-2113994440"/>
        <c:scaling>
          <c:orientation val="minMax"/>
          <c:max val="82"/>
          <c:min val="50"/>
        </c:scaling>
        <c:delete val="0"/>
        <c:axPos val="l"/>
        <c:majorGridlines>
          <c:spPr>
            <a:ln w="6350">
              <a:solidFill>
                <a:srgbClr val="E8EDF5"/>
              </a:solidFill>
            </a:ln>
          </c:spPr>
        </c:majorGridlines>
        <c:numFmt formatCode="General" sourceLinked="1"/>
        <c:majorTickMark val="out"/>
        <c:minorTickMark val="none"/>
        <c:tickLblPos val="nextTo"/>
        <c:txPr>
          <a:bodyPr/>
          <a:lstStyle/>
          <a:p>
            <a:pPr>
              <a:defRPr sz="800">
                <a:solidFill>
                  <a:srgbClr val="6B7A96"/>
                </a:solidFill>
              </a:defRPr>
            </a:pPr>
            <a:endParaRPr lang="en-US"/>
          </a:p>
        </c:txPr>
        <c:crossAx val="-2068027336"/>
        <c:crosses val="autoZero"/>
        <c:crossBetween val="between"/>
        <c:majorUnit val="5"/>
      </c:valAx>
      <c:spPr>
        <a:solidFill>
          <a:srgbClr val="F8FAFE"/>
        </a:solidFill>
      </c:spPr>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4064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84048" y="201168"/>
            <a:ext cx="1097280" cy="329184"/>
          </a:xfrm>
          <a:prstGeom prst="rect">
            <a:avLst/>
          </a:prstGeom>
          <a:noFill/>
          <a:ln/>
        </p:spPr>
        <p:txBody>
          <a:bodyPr wrap="square" lIns="0" tIns="0" rIns="0" bIns="0" rtlCol="0" anchor="ctr"/>
          <a:lstStyle/>
          <a:p>
            <a:pPr marL="0" indent="0">
              <a:buNone/>
            </a:pPr>
            <a:r>
              <a:rPr lang="en-US" sz="2000" b="1" dirty="0">
                <a:solidFill>
                  <a:srgbClr val="1A2744"/>
                </a:solidFill>
                <a:latin typeface="Calibri" pitchFamily="34" charset="0"/>
                <a:ea typeface="Calibri" pitchFamily="34" charset="-122"/>
                <a:cs typeface="Calibri" pitchFamily="34" charset="-120"/>
              </a:rPr>
              <a:t>2026</a:t>
            </a:r>
            <a:endParaRPr lang="en-US" sz="2000" dirty="0"/>
          </a:p>
        </p:txBody>
      </p:sp>
      <p:sp>
        <p:nvSpPr>
          <p:cNvPr id="4" name="Shape 1"/>
          <p:cNvSpPr/>
          <p:nvPr/>
        </p:nvSpPr>
        <p:spPr>
          <a:xfrm>
            <a:off x="384048" y="548640"/>
            <a:ext cx="594360" cy="41148"/>
          </a:xfrm>
          <a:prstGeom prst="rect">
            <a:avLst/>
          </a:prstGeom>
          <a:solidFill>
            <a:srgbClr val="4A7EC0"/>
          </a:solidFill>
          <a:ln w="12700">
            <a:solidFill>
              <a:srgbClr val="4A7EC0"/>
            </a:solidFill>
            <a:prstDash val="solid"/>
          </a:ln>
        </p:spPr>
        <p:txBody>
          <a:bodyPr/>
          <a:lstStyle/>
          <a:p>
            <a:endParaRPr lang="en-IN"/>
          </a:p>
        </p:txBody>
      </p:sp>
      <p:sp>
        <p:nvSpPr>
          <p:cNvPr id="5" name="Text 2"/>
          <p:cNvSpPr/>
          <p:nvPr/>
        </p:nvSpPr>
        <p:spPr>
          <a:xfrm>
            <a:off x="384048" y="914400"/>
            <a:ext cx="7132320" cy="749808"/>
          </a:xfrm>
          <a:prstGeom prst="rect">
            <a:avLst/>
          </a:prstGeom>
          <a:noFill/>
          <a:ln/>
        </p:spPr>
        <p:txBody>
          <a:bodyPr wrap="square" lIns="0" tIns="0" rIns="0" bIns="0" rtlCol="0" anchor="ctr"/>
          <a:lstStyle/>
          <a:p>
            <a:pPr marL="0" indent="0">
              <a:buNone/>
            </a:pPr>
            <a:r>
              <a:rPr lang="en-US" sz="4400" dirty="0">
                <a:solidFill>
                  <a:srgbClr val="1A2744"/>
                </a:solidFill>
                <a:latin typeface="Georgia" pitchFamily="34" charset="0"/>
                <a:ea typeface="Georgia" pitchFamily="34" charset="-122"/>
                <a:cs typeface="Georgia" pitchFamily="34" charset="-120"/>
              </a:rPr>
              <a:t>Financial Feasibility</a:t>
            </a:r>
            <a:endParaRPr lang="en-US" sz="4400" dirty="0"/>
          </a:p>
        </p:txBody>
      </p:sp>
      <p:sp>
        <p:nvSpPr>
          <p:cNvPr id="6" name="Text 3"/>
          <p:cNvSpPr/>
          <p:nvPr/>
        </p:nvSpPr>
        <p:spPr>
          <a:xfrm>
            <a:off x="384048" y="1609344"/>
            <a:ext cx="7132320" cy="594360"/>
          </a:xfrm>
          <a:prstGeom prst="rect">
            <a:avLst/>
          </a:prstGeom>
          <a:noFill/>
          <a:ln/>
        </p:spPr>
        <p:txBody>
          <a:bodyPr wrap="square" lIns="0" tIns="0" rIns="0" bIns="0" rtlCol="0" anchor="ctr"/>
          <a:lstStyle/>
          <a:p>
            <a:pPr marL="0" indent="0">
              <a:buNone/>
            </a:pPr>
            <a:r>
              <a:rPr lang="en-US" sz="3400" dirty="0">
                <a:solidFill>
                  <a:srgbClr val="4A7EC0"/>
                </a:solidFill>
                <a:latin typeface="Georgia" pitchFamily="34" charset="0"/>
                <a:ea typeface="Georgia" pitchFamily="34" charset="-122"/>
                <a:cs typeface="Georgia" pitchFamily="34" charset="-120"/>
              </a:rPr>
              <a:t>of Upstate House, LLC</a:t>
            </a:r>
            <a:endParaRPr lang="en-US" sz="3400" dirty="0"/>
          </a:p>
        </p:txBody>
      </p:sp>
      <p:sp>
        <p:nvSpPr>
          <p:cNvPr id="7" name="Shape 4"/>
          <p:cNvSpPr/>
          <p:nvPr/>
        </p:nvSpPr>
        <p:spPr>
          <a:xfrm>
            <a:off x="384048" y="2304288"/>
            <a:ext cx="5029200" cy="50292"/>
          </a:xfrm>
          <a:prstGeom prst="rect">
            <a:avLst/>
          </a:prstGeom>
          <a:solidFill>
            <a:srgbClr val="4A7EC0"/>
          </a:solidFill>
          <a:ln w="12700">
            <a:solidFill>
              <a:srgbClr val="4A7EC0"/>
            </a:solidFill>
            <a:prstDash val="solid"/>
          </a:ln>
        </p:spPr>
        <p:txBody>
          <a:bodyPr/>
          <a:lstStyle/>
          <a:p>
            <a:endParaRPr lang="en-IN"/>
          </a:p>
        </p:txBody>
      </p:sp>
      <p:sp>
        <p:nvSpPr>
          <p:cNvPr id="8" name="Text 5"/>
          <p:cNvSpPr/>
          <p:nvPr/>
        </p:nvSpPr>
        <p:spPr>
          <a:xfrm>
            <a:off x="384048" y="2432304"/>
            <a:ext cx="5943600" cy="310896"/>
          </a:xfrm>
          <a:prstGeom prst="rect">
            <a:avLst/>
          </a:prstGeom>
          <a:noFill/>
          <a:ln/>
        </p:spPr>
        <p:txBody>
          <a:bodyPr wrap="square" lIns="0" tIns="0" rIns="0" bIns="0" rtlCol="0" anchor="ctr"/>
          <a:lstStyle/>
          <a:p>
            <a:pPr marL="0" indent="0">
              <a:buNone/>
            </a:pPr>
            <a:r>
              <a:rPr lang="en-US" sz="1500" i="1" dirty="0">
                <a:solidFill>
                  <a:srgbClr val="2E3F5C"/>
                </a:solidFill>
                <a:latin typeface="Calibri" pitchFamily="34" charset="0"/>
                <a:ea typeface="Calibri" pitchFamily="34" charset="-122"/>
                <a:cs typeface="Calibri" pitchFamily="34" charset="-120"/>
              </a:rPr>
              <a:t>An Affordable Housing Development Startup</a:t>
            </a:r>
            <a:endParaRPr lang="en-US" sz="1500" dirty="0"/>
          </a:p>
        </p:txBody>
      </p:sp>
      <p:sp>
        <p:nvSpPr>
          <p:cNvPr id="9" name="Text 6"/>
          <p:cNvSpPr/>
          <p:nvPr/>
        </p:nvSpPr>
        <p:spPr>
          <a:xfrm>
            <a:off x="384048" y="2798064"/>
            <a:ext cx="6858000" cy="256032"/>
          </a:xfrm>
          <a:prstGeom prst="rect">
            <a:avLst/>
          </a:prstGeom>
          <a:noFill/>
          <a:ln/>
        </p:spPr>
        <p:txBody>
          <a:bodyPr wrap="square" lIns="0" tIns="0" rIns="0" bIns="0" rtlCol="0" anchor="ctr"/>
          <a:lstStyle/>
          <a:p>
            <a:pPr marL="0" indent="0">
              <a:buNone/>
            </a:pPr>
            <a:r>
              <a:rPr lang="en-US" sz="1050" dirty="0">
                <a:solidFill>
                  <a:srgbClr val="6B7A96"/>
                </a:solidFill>
                <a:latin typeface="Calibri" pitchFamily="34" charset="0"/>
                <a:ea typeface="Calibri" pitchFamily="34" charset="-122"/>
                <a:cs typeface="Calibri" pitchFamily="34" charset="-120"/>
              </a:rPr>
              <a:t>HPD New Construction Finance (NCF) Programme  ·  329 Units  ·  New York City</a:t>
            </a:r>
            <a:endParaRPr lang="en-US" sz="1050" dirty="0"/>
          </a:p>
        </p:txBody>
      </p:sp>
      <p:sp>
        <p:nvSpPr>
          <p:cNvPr id="10" name="Shape 7"/>
          <p:cNvSpPr/>
          <p:nvPr/>
        </p:nvSpPr>
        <p:spPr>
          <a:xfrm>
            <a:off x="0" y="4096512"/>
            <a:ext cx="9144000" cy="1046988"/>
          </a:xfrm>
          <a:prstGeom prst="rect">
            <a:avLst/>
          </a:prstGeom>
          <a:solidFill>
            <a:srgbClr val="F2F6FC">
              <a:alpha val="90000"/>
            </a:srgbClr>
          </a:solidFill>
          <a:ln w="6350">
            <a:solidFill>
              <a:srgbClr val="D8E2F0"/>
            </a:solidFill>
            <a:prstDash val="solid"/>
          </a:ln>
        </p:spPr>
        <p:txBody>
          <a:bodyPr/>
          <a:lstStyle/>
          <a:p>
            <a:endParaRPr lang="en-IN"/>
          </a:p>
        </p:txBody>
      </p:sp>
      <p:sp>
        <p:nvSpPr>
          <p:cNvPr id="11" name="Shape 8"/>
          <p:cNvSpPr/>
          <p:nvPr/>
        </p:nvSpPr>
        <p:spPr>
          <a:xfrm>
            <a:off x="0" y="5102352"/>
            <a:ext cx="9144000" cy="41148"/>
          </a:xfrm>
          <a:prstGeom prst="rect">
            <a:avLst/>
          </a:prstGeom>
          <a:solidFill>
            <a:srgbClr val="4A7EC0"/>
          </a:solidFill>
          <a:ln w="12700">
            <a:solidFill>
              <a:srgbClr val="4A7EC0"/>
            </a:solidFill>
            <a:prstDash val="solid"/>
          </a:ln>
        </p:spPr>
        <p:txBody>
          <a:bodyPr/>
          <a:lstStyle/>
          <a:p>
            <a:endParaRPr lang="en-IN"/>
          </a:p>
        </p:txBody>
      </p:sp>
      <p:sp>
        <p:nvSpPr>
          <p:cNvPr id="12" name="Text 9"/>
          <p:cNvSpPr/>
          <p:nvPr/>
        </p:nvSpPr>
        <p:spPr>
          <a:xfrm>
            <a:off x="384048" y="4169664"/>
            <a:ext cx="2743200" cy="201168"/>
          </a:xfrm>
          <a:prstGeom prst="rect">
            <a:avLst/>
          </a:prstGeom>
          <a:noFill/>
          <a:ln/>
        </p:spPr>
        <p:txBody>
          <a:bodyPr wrap="square" lIns="0" tIns="0" rIns="0" bIns="0" rtlCol="0" anchor="ctr"/>
          <a:lstStyle/>
          <a:p>
            <a:pPr marL="0" indent="0">
              <a:buNone/>
            </a:pPr>
            <a:r>
              <a:rPr lang="en-US" sz="800" dirty="0">
                <a:solidFill>
                  <a:srgbClr val="6B7A96"/>
                </a:solidFill>
                <a:latin typeface="Calibri" pitchFamily="34" charset="0"/>
                <a:ea typeface="Calibri" pitchFamily="34" charset="-122"/>
                <a:cs typeface="Calibri" pitchFamily="34" charset="-120"/>
              </a:rPr>
              <a:t>Presented by</a:t>
            </a:r>
            <a:endParaRPr lang="en-US" sz="800" dirty="0"/>
          </a:p>
        </p:txBody>
      </p:sp>
      <p:sp>
        <p:nvSpPr>
          <p:cNvPr id="13" name="Text 10"/>
          <p:cNvSpPr/>
          <p:nvPr/>
        </p:nvSpPr>
        <p:spPr>
          <a:xfrm>
            <a:off x="384048" y="4334256"/>
            <a:ext cx="3657600" cy="347472"/>
          </a:xfrm>
          <a:prstGeom prst="rect">
            <a:avLst/>
          </a:prstGeom>
          <a:noFill/>
          <a:ln/>
        </p:spPr>
        <p:txBody>
          <a:bodyPr wrap="square" lIns="0" tIns="0" rIns="0" bIns="0" rtlCol="0" anchor="ctr"/>
          <a:lstStyle/>
          <a:p>
            <a:pPr marL="0" indent="0">
              <a:buNone/>
            </a:pPr>
            <a:r>
              <a:rPr lang="en-US" sz="1800" b="1" dirty="0">
                <a:solidFill>
                  <a:srgbClr val="1A2744"/>
                </a:solidFill>
                <a:latin typeface="Calibri" pitchFamily="34" charset="0"/>
                <a:ea typeface="Calibri" pitchFamily="34" charset="-122"/>
                <a:cs typeface="Calibri" pitchFamily="34" charset="-120"/>
              </a:rPr>
              <a:t>Abdullah Khizr</a:t>
            </a:r>
            <a:endParaRPr lang="en-US" sz="1800" dirty="0"/>
          </a:p>
        </p:txBody>
      </p:sp>
      <p:sp>
        <p:nvSpPr>
          <p:cNvPr id="14" name="Text 11"/>
          <p:cNvSpPr/>
          <p:nvPr/>
        </p:nvSpPr>
        <p:spPr>
          <a:xfrm>
            <a:off x="384048" y="4690872"/>
            <a:ext cx="6858000" cy="201168"/>
          </a:xfrm>
          <a:prstGeom prst="rect">
            <a:avLst/>
          </a:prstGeom>
          <a:noFill/>
          <a:ln/>
        </p:spPr>
        <p:txBody>
          <a:bodyPr wrap="square" lIns="0" tIns="0" rIns="0" bIns="0" rtlCol="0" anchor="ctr"/>
          <a:lstStyle/>
          <a:p>
            <a:pPr marL="0" indent="0">
              <a:buNone/>
            </a:pPr>
            <a:r>
              <a:rPr lang="en-US" sz="800" dirty="0">
                <a:solidFill>
                  <a:srgbClr val="6B7A96"/>
                </a:solidFill>
                <a:latin typeface="Calibri" pitchFamily="34" charset="0"/>
                <a:ea typeface="Calibri" pitchFamily="34" charset="-122"/>
                <a:cs typeface="Calibri" pitchFamily="34" charset="-120"/>
              </a:rPr>
              <a:t>Roll No. 24MFE002  |  M.Sc. Banking &amp; Financial Analytics  |  Dept. of Economics, Jamia Millia Islamia, New Delhi</a:t>
            </a:r>
            <a:endParaRPr lang="en-US" sz="800" dirty="0"/>
          </a:p>
        </p:txBody>
      </p:sp>
      <p:sp>
        <p:nvSpPr>
          <p:cNvPr id="15" name="Text 12"/>
          <p:cNvSpPr/>
          <p:nvPr/>
        </p:nvSpPr>
        <p:spPr>
          <a:xfrm>
            <a:off x="6400800" y="4169664"/>
            <a:ext cx="2560320" cy="182880"/>
          </a:xfrm>
          <a:prstGeom prst="rect">
            <a:avLst/>
          </a:prstGeom>
          <a:noFill/>
          <a:ln/>
        </p:spPr>
        <p:txBody>
          <a:bodyPr wrap="square" lIns="0" tIns="0" rIns="0" bIns="0" rtlCol="0" anchor="ctr"/>
          <a:lstStyle/>
          <a:p>
            <a:pPr marL="0" indent="0" algn="r">
              <a:buNone/>
            </a:pPr>
            <a:r>
              <a:rPr lang="en-US" sz="750" dirty="0">
                <a:solidFill>
                  <a:srgbClr val="6B7A96"/>
                </a:solidFill>
                <a:latin typeface="Calibri" pitchFamily="34" charset="0"/>
                <a:ea typeface="Calibri" pitchFamily="34" charset="-122"/>
                <a:cs typeface="Calibri" pitchFamily="34" charset="-120"/>
              </a:rPr>
              <a:t>Internal Supervisor</a:t>
            </a:r>
            <a:endParaRPr lang="en-US" sz="750" dirty="0"/>
          </a:p>
        </p:txBody>
      </p:sp>
      <p:sp>
        <p:nvSpPr>
          <p:cNvPr id="16" name="Text 13"/>
          <p:cNvSpPr/>
          <p:nvPr/>
        </p:nvSpPr>
        <p:spPr>
          <a:xfrm>
            <a:off x="6400800" y="4325112"/>
            <a:ext cx="2560320" cy="256032"/>
          </a:xfrm>
          <a:prstGeom prst="rect">
            <a:avLst/>
          </a:prstGeom>
          <a:noFill/>
          <a:ln/>
        </p:spPr>
        <p:txBody>
          <a:bodyPr wrap="square" lIns="0" tIns="0" rIns="0" bIns="0" rtlCol="0" anchor="ctr"/>
          <a:lstStyle/>
          <a:p>
            <a:pPr marL="0" indent="0" algn="r">
              <a:buNone/>
            </a:pPr>
            <a:r>
              <a:rPr lang="en-US" sz="1200" b="1" dirty="0">
                <a:solidFill>
                  <a:srgbClr val="1A2744"/>
                </a:solidFill>
                <a:latin typeface="Calibri" pitchFamily="34" charset="0"/>
                <a:ea typeface="Calibri" pitchFamily="34" charset="-122"/>
                <a:cs typeface="Calibri" pitchFamily="34" charset="-120"/>
              </a:rPr>
              <a:t>Dr M. A. F. Noor</a:t>
            </a:r>
            <a:endParaRPr lang="en-US" sz="1200" dirty="0"/>
          </a:p>
        </p:txBody>
      </p:sp>
      <p:sp>
        <p:nvSpPr>
          <p:cNvPr id="17" name="Text 14"/>
          <p:cNvSpPr/>
          <p:nvPr/>
        </p:nvSpPr>
        <p:spPr>
          <a:xfrm>
            <a:off x="6400800" y="4590288"/>
            <a:ext cx="2560320" cy="182880"/>
          </a:xfrm>
          <a:prstGeom prst="rect">
            <a:avLst/>
          </a:prstGeom>
          <a:noFill/>
          <a:ln/>
        </p:spPr>
        <p:txBody>
          <a:bodyPr wrap="square" lIns="0" tIns="0" rIns="0" bIns="0" rtlCol="0" anchor="ctr"/>
          <a:lstStyle/>
          <a:p>
            <a:pPr marL="0" indent="0" algn="r">
              <a:buNone/>
            </a:pPr>
            <a:r>
              <a:rPr lang="en-US" sz="750" dirty="0">
                <a:solidFill>
                  <a:srgbClr val="6B7A96"/>
                </a:solidFill>
                <a:latin typeface="Calibri" pitchFamily="34" charset="0"/>
                <a:ea typeface="Calibri" pitchFamily="34" charset="-122"/>
                <a:cs typeface="Calibri" pitchFamily="34" charset="-120"/>
              </a:rPr>
              <a:t>External Supervisor</a:t>
            </a:r>
            <a:endParaRPr lang="en-US" sz="750" dirty="0"/>
          </a:p>
        </p:txBody>
      </p:sp>
      <p:sp>
        <p:nvSpPr>
          <p:cNvPr id="18" name="Text 15"/>
          <p:cNvSpPr/>
          <p:nvPr/>
        </p:nvSpPr>
        <p:spPr>
          <a:xfrm>
            <a:off x="5486400" y="4745736"/>
            <a:ext cx="3474720" cy="201168"/>
          </a:xfrm>
          <a:prstGeom prst="rect">
            <a:avLst/>
          </a:prstGeom>
          <a:noFill/>
          <a:ln/>
        </p:spPr>
        <p:txBody>
          <a:bodyPr wrap="square" lIns="0" tIns="0" rIns="0" bIns="0" rtlCol="0" anchor="ctr"/>
          <a:lstStyle/>
          <a:p>
            <a:pPr marL="0" indent="0" algn="r">
              <a:buNone/>
            </a:pPr>
            <a:r>
              <a:rPr lang="en-US" sz="800" b="1" dirty="0">
                <a:solidFill>
                  <a:srgbClr val="1A2744"/>
                </a:solidFill>
                <a:latin typeface="Calibri" pitchFamily="34" charset="0"/>
                <a:ea typeface="Calibri" pitchFamily="34" charset="-122"/>
                <a:cs typeface="Calibri" pitchFamily="34" charset="-120"/>
              </a:rPr>
              <a:t>Mr. Haroon Khan  |  Jazaa Business Services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84048" y="256032"/>
            <a:ext cx="6400800" cy="548640"/>
          </a:xfrm>
          <a:prstGeom prst="rect">
            <a:avLst/>
          </a:prstGeom>
          <a:noFill/>
          <a:ln/>
        </p:spPr>
        <p:txBody>
          <a:bodyPr wrap="square" lIns="0" tIns="0" rIns="0" bIns="0" rtlCol="0" anchor="ctr"/>
          <a:lstStyle/>
          <a:p>
            <a:pPr marL="0" indent="0">
              <a:buNone/>
            </a:pPr>
            <a:r>
              <a:rPr lang="en-US" sz="3000" dirty="0">
                <a:solidFill>
                  <a:srgbClr val="1A2744"/>
                </a:solidFill>
                <a:latin typeface="Georgia" pitchFamily="34" charset="0"/>
                <a:ea typeface="Georgia" pitchFamily="34" charset="-122"/>
                <a:cs typeface="Georgia" pitchFamily="34" charset="-120"/>
              </a:rPr>
              <a:t>Literature Review</a:t>
            </a:r>
            <a:endParaRPr lang="en-US" sz="3000" dirty="0"/>
          </a:p>
        </p:txBody>
      </p:sp>
      <p:sp>
        <p:nvSpPr>
          <p:cNvPr id="4" name="Shape 1"/>
          <p:cNvSpPr/>
          <p:nvPr/>
        </p:nvSpPr>
        <p:spPr>
          <a:xfrm>
            <a:off x="384048" y="841248"/>
            <a:ext cx="2011680" cy="41148"/>
          </a:xfrm>
          <a:prstGeom prst="rect">
            <a:avLst/>
          </a:prstGeom>
          <a:solidFill>
            <a:srgbClr val="4A7EC0"/>
          </a:solidFill>
          <a:ln w="12700">
            <a:solidFill>
              <a:srgbClr val="4A7EC0"/>
            </a:solidFill>
            <a:prstDash val="solid"/>
          </a:ln>
        </p:spPr>
        <p:txBody>
          <a:bodyPr/>
          <a:lstStyle/>
          <a:p>
            <a:endParaRPr lang="en-IN"/>
          </a:p>
        </p:txBody>
      </p:sp>
      <p:sp>
        <p:nvSpPr>
          <p:cNvPr id="5" name="Text 2"/>
          <p:cNvSpPr/>
          <p:nvPr/>
        </p:nvSpPr>
        <p:spPr>
          <a:xfrm>
            <a:off x="384048" y="932688"/>
            <a:ext cx="6400800" cy="237744"/>
          </a:xfrm>
          <a:prstGeom prst="rect">
            <a:avLst/>
          </a:prstGeom>
          <a:noFill/>
          <a:ln/>
        </p:spPr>
        <p:txBody>
          <a:bodyPr wrap="square" lIns="0" tIns="0" rIns="0" bIns="0" rtlCol="0" anchor="ctr"/>
          <a:lstStyle/>
          <a:p>
            <a:pPr marL="0" indent="0">
              <a:buNone/>
            </a:pPr>
            <a:r>
              <a:rPr lang="en-US" sz="1050" i="1" dirty="0">
                <a:solidFill>
                  <a:srgbClr val="6B7A96"/>
                </a:solidFill>
                <a:latin typeface="Calibri" pitchFamily="34" charset="0"/>
                <a:ea typeface="Calibri" pitchFamily="34" charset="-122"/>
                <a:cs typeface="Calibri" pitchFamily="34" charset="-120"/>
              </a:rPr>
              <a:t>Theoretical &amp; Empirical Foundations</a:t>
            </a:r>
            <a:endParaRPr lang="en-US" sz="1050" dirty="0"/>
          </a:p>
        </p:txBody>
      </p:sp>
      <p:sp>
        <p:nvSpPr>
          <p:cNvPr id="6" name="Shape 3"/>
          <p:cNvSpPr/>
          <p:nvPr/>
        </p:nvSpPr>
        <p:spPr>
          <a:xfrm>
            <a:off x="256032" y="1261872"/>
            <a:ext cx="2761488" cy="3639312"/>
          </a:xfrm>
          <a:prstGeom prst="rect">
            <a:avLst/>
          </a:prstGeom>
          <a:solidFill>
            <a:srgbClr val="FFFFFF"/>
          </a:solidFill>
          <a:ln w="9525">
            <a:solidFill>
              <a:srgbClr val="DCE4F0"/>
            </a:solidFill>
            <a:prstDash val="solid"/>
          </a:ln>
          <a:effectLst>
            <a:outerShdw blurRad="101600" dist="25400" dir="8100000" algn="bl" rotWithShape="0">
              <a:srgbClr val="1A2744">
                <a:alpha val="8000"/>
              </a:srgbClr>
            </a:outerShdw>
          </a:effectLst>
        </p:spPr>
        <p:txBody>
          <a:bodyPr/>
          <a:lstStyle/>
          <a:p>
            <a:endParaRPr lang="en-IN"/>
          </a:p>
        </p:txBody>
      </p:sp>
      <p:sp>
        <p:nvSpPr>
          <p:cNvPr id="7" name="Shape 4"/>
          <p:cNvSpPr/>
          <p:nvPr/>
        </p:nvSpPr>
        <p:spPr>
          <a:xfrm>
            <a:off x="256032" y="1261872"/>
            <a:ext cx="50292" cy="3639312"/>
          </a:xfrm>
          <a:prstGeom prst="rect">
            <a:avLst/>
          </a:prstGeom>
          <a:solidFill>
            <a:srgbClr val="4A7EC0"/>
          </a:solidFill>
          <a:ln w="12700">
            <a:solidFill>
              <a:srgbClr val="4A7EC0"/>
            </a:solidFill>
            <a:prstDash val="solid"/>
          </a:ln>
        </p:spPr>
        <p:txBody>
          <a:bodyPr/>
          <a:lstStyle/>
          <a:p>
            <a:endParaRPr lang="en-IN"/>
          </a:p>
        </p:txBody>
      </p:sp>
      <p:pic>
        <p:nvPicPr>
          <p:cNvPr id="8" name="Image 1" descr="preencoded.png"/>
          <p:cNvPicPr>
            <a:picLocks noChangeAspect="1"/>
          </p:cNvPicPr>
          <p:nvPr/>
        </p:nvPicPr>
        <p:blipFill>
          <a:blip r:embed="rId4"/>
          <a:stretch>
            <a:fillRect/>
          </a:stretch>
        </p:blipFill>
        <p:spPr>
          <a:xfrm>
            <a:off x="420624" y="1444752"/>
            <a:ext cx="347472" cy="347472"/>
          </a:xfrm>
          <a:prstGeom prst="rect">
            <a:avLst/>
          </a:prstGeom>
        </p:spPr>
      </p:pic>
      <p:sp>
        <p:nvSpPr>
          <p:cNvPr id="9" name="Text 5"/>
          <p:cNvSpPr/>
          <p:nvPr/>
        </p:nvSpPr>
        <p:spPr>
          <a:xfrm>
            <a:off x="877824" y="1389888"/>
            <a:ext cx="2029968" cy="475488"/>
          </a:xfrm>
          <a:prstGeom prst="rect">
            <a:avLst/>
          </a:prstGeom>
          <a:noFill/>
          <a:ln/>
        </p:spPr>
        <p:txBody>
          <a:bodyPr wrap="square" lIns="0" tIns="0" rIns="0" bIns="0" rtlCol="0" anchor="ctr"/>
          <a:lstStyle/>
          <a:p>
            <a:pPr marL="0" indent="0">
              <a:buNone/>
            </a:pPr>
            <a:r>
              <a:rPr lang="en-US" sz="1000" b="1" dirty="0">
                <a:solidFill>
                  <a:srgbClr val="1A2744"/>
                </a:solidFill>
                <a:latin typeface="Calibri" pitchFamily="34" charset="0"/>
                <a:ea typeface="Calibri" pitchFamily="34" charset="-122"/>
                <a:cs typeface="Calibri" pitchFamily="34" charset="-120"/>
              </a:rPr>
              <a:t>Market Failure &amp; the Case for Intervention</a:t>
            </a:r>
            <a:endParaRPr lang="en-US" sz="1000" dirty="0"/>
          </a:p>
        </p:txBody>
      </p:sp>
      <p:sp>
        <p:nvSpPr>
          <p:cNvPr id="10" name="Shape 6"/>
          <p:cNvSpPr/>
          <p:nvPr/>
        </p:nvSpPr>
        <p:spPr>
          <a:xfrm>
            <a:off x="393192" y="1929384"/>
            <a:ext cx="2487168" cy="27432"/>
          </a:xfrm>
          <a:prstGeom prst="rect">
            <a:avLst/>
          </a:prstGeom>
          <a:solidFill>
            <a:srgbClr val="DCE4F0"/>
          </a:solidFill>
          <a:ln w="12700">
            <a:solidFill>
              <a:srgbClr val="DCE4F0"/>
            </a:solidFill>
            <a:prstDash val="solid"/>
          </a:ln>
        </p:spPr>
        <p:txBody>
          <a:bodyPr/>
          <a:lstStyle/>
          <a:p>
            <a:endParaRPr lang="en-IN"/>
          </a:p>
        </p:txBody>
      </p:sp>
      <p:sp>
        <p:nvSpPr>
          <p:cNvPr id="11" name="Text 7"/>
          <p:cNvSpPr/>
          <p:nvPr/>
        </p:nvSpPr>
        <p:spPr>
          <a:xfrm>
            <a:off x="393192" y="2020824"/>
            <a:ext cx="2514600" cy="2542032"/>
          </a:xfrm>
          <a:prstGeom prst="rect">
            <a:avLst/>
          </a:prstGeom>
          <a:noFill/>
          <a:ln/>
        </p:spPr>
        <p:txBody>
          <a:bodyPr wrap="square" lIns="0" tIns="0" rIns="0" bIns="0" rtlCol="0" anchor="ctr"/>
          <a:lstStyle/>
          <a:p>
            <a:pPr marL="0" indent="0" algn="l">
              <a:buNone/>
            </a:pPr>
            <a:r>
              <a:rPr lang="en-US" sz="800" dirty="0">
                <a:solidFill>
                  <a:srgbClr val="2E3F5C"/>
                </a:solidFill>
                <a:latin typeface="Calibri" pitchFamily="34" charset="0"/>
                <a:ea typeface="Calibri" pitchFamily="34" charset="-122"/>
                <a:cs typeface="Calibri" pitchFamily="34" charset="-120"/>
              </a:rPr>
              <a:t>Glaeser &amp; Gyourko (2008) establish that affordability challenges in high-cost cities stem from supply-side constraints — restrictive zoning, high land costs, and construction cost inflation — preventing the private market from serving low-income households. Schwartz (2014) traces how this failure led to the current ecosystem of tax credits and project-based subsidies, introducing complex multi-source financing requirements.</a:t>
            </a:r>
            <a:endParaRPr lang="en-US" sz="800" dirty="0"/>
          </a:p>
        </p:txBody>
      </p:sp>
      <p:sp>
        <p:nvSpPr>
          <p:cNvPr id="12" name="Text 8"/>
          <p:cNvSpPr/>
          <p:nvPr/>
        </p:nvSpPr>
        <p:spPr>
          <a:xfrm>
            <a:off x="393192" y="4553712"/>
            <a:ext cx="2514600" cy="292608"/>
          </a:xfrm>
          <a:prstGeom prst="rect">
            <a:avLst/>
          </a:prstGeom>
          <a:noFill/>
          <a:ln/>
        </p:spPr>
        <p:txBody>
          <a:bodyPr wrap="square" lIns="0" tIns="0" rIns="0" bIns="0" rtlCol="0" anchor="ctr"/>
          <a:lstStyle/>
          <a:p>
            <a:pPr marL="0" indent="0">
              <a:buNone/>
            </a:pPr>
            <a:r>
              <a:rPr lang="en-US" sz="680" i="1" dirty="0">
                <a:solidFill>
                  <a:srgbClr val="6B7A96"/>
                </a:solidFill>
                <a:latin typeface="Calibri" pitchFamily="34" charset="0"/>
                <a:ea typeface="Calibri" pitchFamily="34" charset="-122"/>
                <a:cs typeface="Calibri" pitchFamily="34" charset="-120"/>
              </a:rPr>
              <a:t>Glaeser &amp; Gyourko (2008)  ·  Schwartz (2014)  ·  O'Regan &amp; Quigley (2000)</a:t>
            </a:r>
            <a:endParaRPr lang="en-US" sz="680" dirty="0"/>
          </a:p>
        </p:txBody>
      </p:sp>
      <p:sp>
        <p:nvSpPr>
          <p:cNvPr id="13" name="Shape 9"/>
          <p:cNvSpPr/>
          <p:nvPr/>
        </p:nvSpPr>
        <p:spPr>
          <a:xfrm>
            <a:off x="3163824" y="1261872"/>
            <a:ext cx="2761488" cy="3639312"/>
          </a:xfrm>
          <a:prstGeom prst="rect">
            <a:avLst/>
          </a:prstGeom>
          <a:solidFill>
            <a:srgbClr val="FFFFFF"/>
          </a:solidFill>
          <a:ln w="9525">
            <a:solidFill>
              <a:srgbClr val="DCE4F0"/>
            </a:solidFill>
            <a:prstDash val="solid"/>
          </a:ln>
          <a:effectLst>
            <a:outerShdw blurRad="101600" dist="25400" dir="8100000" algn="bl" rotWithShape="0">
              <a:srgbClr val="1A2744">
                <a:alpha val="8000"/>
              </a:srgbClr>
            </a:outerShdw>
          </a:effectLst>
        </p:spPr>
        <p:txBody>
          <a:bodyPr/>
          <a:lstStyle/>
          <a:p>
            <a:endParaRPr lang="en-IN"/>
          </a:p>
        </p:txBody>
      </p:sp>
      <p:sp>
        <p:nvSpPr>
          <p:cNvPr id="14" name="Shape 10"/>
          <p:cNvSpPr/>
          <p:nvPr/>
        </p:nvSpPr>
        <p:spPr>
          <a:xfrm>
            <a:off x="3163824" y="1261872"/>
            <a:ext cx="50292" cy="3639312"/>
          </a:xfrm>
          <a:prstGeom prst="rect">
            <a:avLst/>
          </a:prstGeom>
          <a:solidFill>
            <a:srgbClr val="4A7EC0"/>
          </a:solidFill>
          <a:ln w="12700">
            <a:solidFill>
              <a:srgbClr val="4A7EC0"/>
            </a:solidFill>
            <a:prstDash val="solid"/>
          </a:ln>
        </p:spPr>
        <p:txBody>
          <a:bodyPr/>
          <a:lstStyle/>
          <a:p>
            <a:endParaRPr lang="en-IN"/>
          </a:p>
        </p:txBody>
      </p:sp>
      <p:pic>
        <p:nvPicPr>
          <p:cNvPr id="15" name="Image 2" descr="preencoded.png"/>
          <p:cNvPicPr>
            <a:picLocks noChangeAspect="1"/>
          </p:cNvPicPr>
          <p:nvPr/>
        </p:nvPicPr>
        <p:blipFill>
          <a:blip r:embed="rId5"/>
          <a:stretch>
            <a:fillRect/>
          </a:stretch>
        </p:blipFill>
        <p:spPr>
          <a:xfrm>
            <a:off x="3328416" y="1444752"/>
            <a:ext cx="347472" cy="347472"/>
          </a:xfrm>
          <a:prstGeom prst="rect">
            <a:avLst/>
          </a:prstGeom>
        </p:spPr>
      </p:pic>
      <p:sp>
        <p:nvSpPr>
          <p:cNvPr id="16" name="Text 11"/>
          <p:cNvSpPr/>
          <p:nvPr/>
        </p:nvSpPr>
        <p:spPr>
          <a:xfrm>
            <a:off x="3785616" y="1389888"/>
            <a:ext cx="2029968" cy="475488"/>
          </a:xfrm>
          <a:prstGeom prst="rect">
            <a:avLst/>
          </a:prstGeom>
          <a:noFill/>
          <a:ln/>
        </p:spPr>
        <p:txBody>
          <a:bodyPr wrap="square" lIns="0" tIns="0" rIns="0" bIns="0" rtlCol="0" anchor="ctr"/>
          <a:lstStyle/>
          <a:p>
            <a:pPr marL="0" indent="0">
              <a:buNone/>
            </a:pPr>
            <a:r>
              <a:rPr lang="en-US" sz="1000" b="1" dirty="0">
                <a:solidFill>
                  <a:srgbClr val="1A2744"/>
                </a:solidFill>
                <a:latin typeface="Calibri" pitchFamily="34" charset="0"/>
                <a:ea typeface="Calibri" pitchFamily="34" charset="-122"/>
                <a:cs typeface="Calibri" pitchFamily="34" charset="-120"/>
              </a:rPr>
              <a:t>LIHTC, Tax-Exempt Bonds &amp; the 4% Credit</a:t>
            </a:r>
            <a:endParaRPr lang="en-US" sz="1000" dirty="0"/>
          </a:p>
        </p:txBody>
      </p:sp>
      <p:sp>
        <p:nvSpPr>
          <p:cNvPr id="17" name="Shape 12"/>
          <p:cNvSpPr/>
          <p:nvPr/>
        </p:nvSpPr>
        <p:spPr>
          <a:xfrm>
            <a:off x="3300984" y="1929384"/>
            <a:ext cx="2487168" cy="27432"/>
          </a:xfrm>
          <a:prstGeom prst="rect">
            <a:avLst/>
          </a:prstGeom>
          <a:solidFill>
            <a:srgbClr val="DCE4F0"/>
          </a:solidFill>
          <a:ln w="12700">
            <a:solidFill>
              <a:srgbClr val="DCE4F0"/>
            </a:solidFill>
            <a:prstDash val="solid"/>
          </a:ln>
        </p:spPr>
        <p:txBody>
          <a:bodyPr/>
          <a:lstStyle/>
          <a:p>
            <a:endParaRPr lang="en-IN"/>
          </a:p>
        </p:txBody>
      </p:sp>
      <p:sp>
        <p:nvSpPr>
          <p:cNvPr id="18" name="Text 13"/>
          <p:cNvSpPr/>
          <p:nvPr/>
        </p:nvSpPr>
        <p:spPr>
          <a:xfrm>
            <a:off x="3300984" y="2020824"/>
            <a:ext cx="2514600" cy="2542032"/>
          </a:xfrm>
          <a:prstGeom prst="rect">
            <a:avLst/>
          </a:prstGeom>
          <a:noFill/>
          <a:ln/>
        </p:spPr>
        <p:txBody>
          <a:bodyPr wrap="square" lIns="0" tIns="0" rIns="0" bIns="0" rtlCol="0" anchor="ctr"/>
          <a:lstStyle/>
          <a:p>
            <a:pPr marL="0" indent="0" algn="l">
              <a:buNone/>
            </a:pPr>
            <a:r>
              <a:rPr lang="en-US" sz="800" dirty="0">
                <a:solidFill>
                  <a:srgbClr val="2E3F5C"/>
                </a:solidFill>
                <a:latin typeface="Calibri" pitchFamily="34" charset="0"/>
                <a:ea typeface="Calibri" pitchFamily="34" charset="-122"/>
                <a:cs typeface="Calibri" pitchFamily="34" charset="-120"/>
              </a:rPr>
              <a:t>Cummings &amp; DiPasquale (1999) document that LIHTC equity alone is insufficient in the highest-cost markets; additional subsidy layering is necessary. Rappaport (2014) notes that the 4% as-of-right credit triggered by 50%+ tax-exempt bond financing has become the dominant structure for large-scale affordable projects. In this project, bond financing produces a 0.50% permanent mortgage rate — the single most powerful lever in the capital structure.</a:t>
            </a:r>
            <a:endParaRPr lang="en-US" sz="800" dirty="0"/>
          </a:p>
        </p:txBody>
      </p:sp>
      <p:sp>
        <p:nvSpPr>
          <p:cNvPr id="19" name="Text 14"/>
          <p:cNvSpPr/>
          <p:nvPr/>
        </p:nvSpPr>
        <p:spPr>
          <a:xfrm>
            <a:off x="3300984" y="4553712"/>
            <a:ext cx="2514600" cy="292608"/>
          </a:xfrm>
          <a:prstGeom prst="rect">
            <a:avLst/>
          </a:prstGeom>
          <a:noFill/>
          <a:ln/>
        </p:spPr>
        <p:txBody>
          <a:bodyPr wrap="square" lIns="0" tIns="0" rIns="0" bIns="0" rtlCol="0" anchor="ctr"/>
          <a:lstStyle/>
          <a:p>
            <a:pPr marL="0" indent="0">
              <a:buNone/>
            </a:pPr>
            <a:r>
              <a:rPr lang="en-US" sz="680" i="1" dirty="0">
                <a:solidFill>
                  <a:srgbClr val="6B7A96"/>
                </a:solidFill>
                <a:latin typeface="Calibri" pitchFamily="34" charset="0"/>
                <a:ea typeface="Calibri" pitchFamily="34" charset="-122"/>
                <a:cs typeface="Calibri" pitchFamily="34" charset="-120"/>
              </a:rPr>
              <a:t>Cummings &amp; DiPasquale (1999)  ·  Rappaport (2014)  ·  McClure (2000)</a:t>
            </a:r>
            <a:endParaRPr lang="en-US" sz="680" dirty="0"/>
          </a:p>
        </p:txBody>
      </p:sp>
      <p:sp>
        <p:nvSpPr>
          <p:cNvPr id="20" name="Shape 15"/>
          <p:cNvSpPr/>
          <p:nvPr/>
        </p:nvSpPr>
        <p:spPr>
          <a:xfrm>
            <a:off x="6071616" y="1261872"/>
            <a:ext cx="2761488" cy="3639312"/>
          </a:xfrm>
          <a:prstGeom prst="rect">
            <a:avLst/>
          </a:prstGeom>
          <a:solidFill>
            <a:srgbClr val="FFFFFF"/>
          </a:solidFill>
          <a:ln w="9525">
            <a:solidFill>
              <a:srgbClr val="DCE4F0"/>
            </a:solidFill>
            <a:prstDash val="solid"/>
          </a:ln>
          <a:effectLst>
            <a:outerShdw blurRad="101600" dist="25400" dir="8100000" algn="bl" rotWithShape="0">
              <a:srgbClr val="1A2744">
                <a:alpha val="8000"/>
              </a:srgbClr>
            </a:outerShdw>
          </a:effectLst>
        </p:spPr>
        <p:txBody>
          <a:bodyPr/>
          <a:lstStyle/>
          <a:p>
            <a:endParaRPr lang="en-IN"/>
          </a:p>
        </p:txBody>
      </p:sp>
      <p:sp>
        <p:nvSpPr>
          <p:cNvPr id="21" name="Shape 16"/>
          <p:cNvSpPr/>
          <p:nvPr/>
        </p:nvSpPr>
        <p:spPr>
          <a:xfrm>
            <a:off x="6071616" y="1261872"/>
            <a:ext cx="50292" cy="3639312"/>
          </a:xfrm>
          <a:prstGeom prst="rect">
            <a:avLst/>
          </a:prstGeom>
          <a:solidFill>
            <a:srgbClr val="4A7EC0"/>
          </a:solidFill>
          <a:ln w="12700">
            <a:solidFill>
              <a:srgbClr val="4A7EC0"/>
            </a:solidFill>
            <a:prstDash val="solid"/>
          </a:ln>
        </p:spPr>
        <p:txBody>
          <a:bodyPr/>
          <a:lstStyle/>
          <a:p>
            <a:endParaRPr lang="en-IN"/>
          </a:p>
        </p:txBody>
      </p:sp>
      <p:pic>
        <p:nvPicPr>
          <p:cNvPr id="22" name="Image 3" descr="preencoded.png"/>
          <p:cNvPicPr>
            <a:picLocks noChangeAspect="1"/>
          </p:cNvPicPr>
          <p:nvPr/>
        </p:nvPicPr>
        <p:blipFill>
          <a:blip r:embed="rId6"/>
          <a:stretch>
            <a:fillRect/>
          </a:stretch>
        </p:blipFill>
        <p:spPr>
          <a:xfrm>
            <a:off x="6236208" y="1444752"/>
            <a:ext cx="347472" cy="347472"/>
          </a:xfrm>
          <a:prstGeom prst="rect">
            <a:avLst/>
          </a:prstGeom>
        </p:spPr>
      </p:pic>
      <p:sp>
        <p:nvSpPr>
          <p:cNvPr id="23" name="Text 17"/>
          <p:cNvSpPr/>
          <p:nvPr/>
        </p:nvSpPr>
        <p:spPr>
          <a:xfrm>
            <a:off x="6693408" y="1389888"/>
            <a:ext cx="2029968" cy="475488"/>
          </a:xfrm>
          <a:prstGeom prst="rect">
            <a:avLst/>
          </a:prstGeom>
          <a:noFill/>
          <a:ln/>
        </p:spPr>
        <p:txBody>
          <a:bodyPr wrap="square" lIns="0" tIns="0" rIns="0" bIns="0" rtlCol="0" anchor="ctr"/>
          <a:lstStyle/>
          <a:p>
            <a:pPr marL="0" indent="0">
              <a:buNone/>
            </a:pPr>
            <a:r>
              <a:rPr lang="en-US" sz="1000" b="1" dirty="0">
                <a:solidFill>
                  <a:srgbClr val="1A2744"/>
                </a:solidFill>
                <a:latin typeface="Calibri" pitchFamily="34" charset="0"/>
                <a:ea typeface="Calibri" pitchFamily="34" charset="-122"/>
                <a:cs typeface="Calibri" pitchFamily="34" charset="-120"/>
              </a:rPr>
              <a:t>HPD NCF, SONYMA MIF &amp; Feasibility Frameworks</a:t>
            </a:r>
            <a:endParaRPr lang="en-US" sz="1000" dirty="0"/>
          </a:p>
        </p:txBody>
      </p:sp>
      <p:sp>
        <p:nvSpPr>
          <p:cNvPr id="24" name="Shape 18"/>
          <p:cNvSpPr/>
          <p:nvPr/>
        </p:nvSpPr>
        <p:spPr>
          <a:xfrm>
            <a:off x="6208776" y="1929384"/>
            <a:ext cx="2487168" cy="27432"/>
          </a:xfrm>
          <a:prstGeom prst="rect">
            <a:avLst/>
          </a:prstGeom>
          <a:solidFill>
            <a:srgbClr val="DCE4F0"/>
          </a:solidFill>
          <a:ln w="12700">
            <a:solidFill>
              <a:srgbClr val="DCE4F0"/>
            </a:solidFill>
            <a:prstDash val="solid"/>
          </a:ln>
        </p:spPr>
        <p:txBody>
          <a:bodyPr/>
          <a:lstStyle/>
          <a:p>
            <a:endParaRPr lang="en-IN"/>
          </a:p>
        </p:txBody>
      </p:sp>
      <p:sp>
        <p:nvSpPr>
          <p:cNvPr id="25" name="Text 19"/>
          <p:cNvSpPr/>
          <p:nvPr/>
        </p:nvSpPr>
        <p:spPr>
          <a:xfrm>
            <a:off x="6208776" y="2020824"/>
            <a:ext cx="2514600" cy="2542032"/>
          </a:xfrm>
          <a:prstGeom prst="rect">
            <a:avLst/>
          </a:prstGeom>
          <a:noFill/>
          <a:ln/>
        </p:spPr>
        <p:txBody>
          <a:bodyPr wrap="square" lIns="0" tIns="0" rIns="0" bIns="0" rtlCol="0" anchor="ctr"/>
          <a:lstStyle/>
          <a:p>
            <a:pPr marL="0" indent="0" algn="l">
              <a:buNone/>
            </a:pPr>
            <a:r>
              <a:rPr lang="en-US" sz="800" dirty="0">
                <a:solidFill>
                  <a:srgbClr val="2E3F5C"/>
                </a:solidFill>
                <a:latin typeface="Calibri" pitchFamily="34" charset="0"/>
                <a:ea typeface="Calibri" pitchFamily="34" charset="-122"/>
                <a:cs typeface="Calibri" pitchFamily="34" charset="-120"/>
              </a:rPr>
              <a:t>Bratt (2009) identifies gap financing as a foundational prerequisite for subsidised housing viability. Orlebeke (2000) notes HPD's shift from grants to interest-accruing balloon loans, which has significant implications for long-term cash flow modelling. DiPasquale &amp; Wheaton (1996) highlight SONYMA MIF's role in reducing lender risk, while its binding constraints — 80% LTV, 1.05x I/E, 1.5% replacement reserve — discipline developer assumptions. Peiser &amp; Hamilton (2012) provide the feasibility framework applied in this study.</a:t>
            </a:r>
            <a:endParaRPr lang="en-US" sz="800" dirty="0"/>
          </a:p>
        </p:txBody>
      </p:sp>
      <p:sp>
        <p:nvSpPr>
          <p:cNvPr id="26" name="Text 20"/>
          <p:cNvSpPr/>
          <p:nvPr/>
        </p:nvSpPr>
        <p:spPr>
          <a:xfrm>
            <a:off x="6208776" y="4553712"/>
            <a:ext cx="2514600" cy="292608"/>
          </a:xfrm>
          <a:prstGeom prst="rect">
            <a:avLst/>
          </a:prstGeom>
          <a:noFill/>
          <a:ln/>
        </p:spPr>
        <p:txBody>
          <a:bodyPr wrap="square" lIns="0" tIns="0" rIns="0" bIns="0" rtlCol="0" anchor="ctr"/>
          <a:lstStyle/>
          <a:p>
            <a:pPr marL="0" indent="0">
              <a:buNone/>
            </a:pPr>
            <a:r>
              <a:rPr lang="en-US" sz="680" i="1" dirty="0">
                <a:solidFill>
                  <a:srgbClr val="6B7A96"/>
                </a:solidFill>
                <a:latin typeface="Calibri" pitchFamily="34" charset="0"/>
                <a:ea typeface="Calibri" pitchFamily="34" charset="-122"/>
                <a:cs typeface="Calibri" pitchFamily="34" charset="-120"/>
              </a:rPr>
              <a:t>Bratt (2009)  ·  Orlebeke (2000)  ·  DiPasquale &amp; Wheaton (1996)</a:t>
            </a:r>
            <a:endParaRPr lang="en-US" sz="680" dirty="0"/>
          </a:p>
        </p:txBody>
      </p:sp>
      <p:sp>
        <p:nvSpPr>
          <p:cNvPr id="27" name="Text 21"/>
          <p:cNvSpPr/>
          <p:nvPr/>
        </p:nvSpPr>
        <p:spPr>
          <a:xfrm>
            <a:off x="8686800" y="4846320"/>
            <a:ext cx="384048" cy="228600"/>
          </a:xfrm>
          <a:prstGeom prst="rect">
            <a:avLst/>
          </a:prstGeom>
          <a:noFill/>
          <a:ln/>
        </p:spPr>
        <p:txBody>
          <a:bodyPr wrap="square" lIns="0" tIns="0" rIns="0" bIns="0" rtlCol="0" anchor="ctr"/>
          <a:lstStyle/>
          <a:p>
            <a:pPr marL="0" indent="0" algn="r">
              <a:buNone/>
            </a:pPr>
            <a:r>
              <a:rPr lang="en-US" sz="900" dirty="0">
                <a:solidFill>
                  <a:srgbClr val="6B7A96"/>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84048" y="256032"/>
            <a:ext cx="6400800" cy="548640"/>
          </a:xfrm>
          <a:prstGeom prst="rect">
            <a:avLst/>
          </a:prstGeom>
          <a:noFill/>
          <a:ln/>
        </p:spPr>
        <p:txBody>
          <a:bodyPr wrap="square" lIns="0" tIns="0" rIns="0" bIns="0" rtlCol="0" anchor="ctr"/>
          <a:lstStyle/>
          <a:p>
            <a:pPr marL="0" indent="0">
              <a:buNone/>
            </a:pPr>
            <a:r>
              <a:rPr lang="en-US" sz="3000" dirty="0">
                <a:solidFill>
                  <a:srgbClr val="1A2744"/>
                </a:solidFill>
                <a:latin typeface="Georgia" pitchFamily="34" charset="0"/>
                <a:ea typeface="Georgia" pitchFamily="34" charset="-122"/>
                <a:cs typeface="Georgia" pitchFamily="34" charset="-120"/>
              </a:rPr>
              <a:t>Research Objectives</a:t>
            </a:r>
            <a:endParaRPr lang="en-US" sz="3000" dirty="0"/>
          </a:p>
        </p:txBody>
      </p:sp>
      <p:sp>
        <p:nvSpPr>
          <p:cNvPr id="4" name="Shape 1"/>
          <p:cNvSpPr/>
          <p:nvPr/>
        </p:nvSpPr>
        <p:spPr>
          <a:xfrm>
            <a:off x="384048" y="841248"/>
            <a:ext cx="2377440" cy="41148"/>
          </a:xfrm>
          <a:prstGeom prst="rect">
            <a:avLst/>
          </a:prstGeom>
          <a:solidFill>
            <a:srgbClr val="4A7EC0"/>
          </a:solidFill>
          <a:ln w="12700">
            <a:solidFill>
              <a:srgbClr val="4A7EC0"/>
            </a:solidFill>
            <a:prstDash val="solid"/>
          </a:ln>
        </p:spPr>
        <p:txBody>
          <a:bodyPr/>
          <a:lstStyle/>
          <a:p>
            <a:endParaRPr lang="en-IN"/>
          </a:p>
        </p:txBody>
      </p:sp>
      <p:sp>
        <p:nvSpPr>
          <p:cNvPr id="5" name="Text 2"/>
          <p:cNvSpPr/>
          <p:nvPr/>
        </p:nvSpPr>
        <p:spPr>
          <a:xfrm>
            <a:off x="384048" y="932688"/>
            <a:ext cx="6400800" cy="237744"/>
          </a:xfrm>
          <a:prstGeom prst="rect">
            <a:avLst/>
          </a:prstGeom>
          <a:noFill/>
          <a:ln/>
        </p:spPr>
        <p:txBody>
          <a:bodyPr wrap="square" lIns="0" tIns="0" rIns="0" bIns="0" rtlCol="0" anchor="ctr"/>
          <a:lstStyle/>
          <a:p>
            <a:pPr marL="0" indent="0">
              <a:buNone/>
            </a:pPr>
            <a:r>
              <a:rPr lang="en-US" sz="1050" i="1" dirty="0">
                <a:solidFill>
                  <a:srgbClr val="6B7A96"/>
                </a:solidFill>
                <a:latin typeface="Calibri" pitchFamily="34" charset="0"/>
                <a:ea typeface="Calibri" pitchFamily="34" charset="-122"/>
                <a:cs typeface="Calibri" pitchFamily="34" charset="-120"/>
              </a:rPr>
              <a:t>What is this study trying to find out?</a:t>
            </a:r>
            <a:endParaRPr lang="en-US" sz="1050" dirty="0"/>
          </a:p>
        </p:txBody>
      </p:sp>
      <p:sp>
        <p:nvSpPr>
          <p:cNvPr id="6" name="Shape 3"/>
          <p:cNvSpPr/>
          <p:nvPr/>
        </p:nvSpPr>
        <p:spPr>
          <a:xfrm>
            <a:off x="256032" y="1243584"/>
            <a:ext cx="8631936" cy="685800"/>
          </a:xfrm>
          <a:prstGeom prst="rect">
            <a:avLst/>
          </a:prstGeom>
          <a:solidFill>
            <a:srgbClr val="EEF4FF"/>
          </a:solidFill>
          <a:ln w="9525">
            <a:solidFill>
              <a:srgbClr val="DCE4F0"/>
            </a:solidFill>
            <a:prstDash val="solid"/>
          </a:ln>
          <a:effectLst>
            <a:outerShdw blurRad="101600" dist="25400" dir="8100000" algn="bl" rotWithShape="0">
              <a:srgbClr val="1A2744">
                <a:alpha val="8000"/>
              </a:srgbClr>
            </a:outerShdw>
          </a:effectLst>
        </p:spPr>
        <p:txBody>
          <a:bodyPr/>
          <a:lstStyle/>
          <a:p>
            <a:endParaRPr lang="en-IN"/>
          </a:p>
        </p:txBody>
      </p:sp>
      <p:sp>
        <p:nvSpPr>
          <p:cNvPr id="7" name="Shape 4"/>
          <p:cNvSpPr/>
          <p:nvPr/>
        </p:nvSpPr>
        <p:spPr>
          <a:xfrm>
            <a:off x="256032" y="1243584"/>
            <a:ext cx="50292" cy="685800"/>
          </a:xfrm>
          <a:prstGeom prst="rect">
            <a:avLst/>
          </a:prstGeom>
          <a:solidFill>
            <a:srgbClr val="4A7EC0"/>
          </a:solidFill>
          <a:ln w="12700">
            <a:solidFill>
              <a:srgbClr val="4A7EC0"/>
            </a:solidFill>
            <a:prstDash val="solid"/>
          </a:ln>
        </p:spPr>
        <p:txBody>
          <a:bodyPr/>
          <a:lstStyle/>
          <a:p>
            <a:endParaRPr lang="en-IN"/>
          </a:p>
        </p:txBody>
      </p:sp>
      <p:sp>
        <p:nvSpPr>
          <p:cNvPr id="8" name="Text 5"/>
          <p:cNvSpPr/>
          <p:nvPr/>
        </p:nvSpPr>
        <p:spPr>
          <a:xfrm>
            <a:off x="438912" y="1280160"/>
            <a:ext cx="1737360" cy="201168"/>
          </a:xfrm>
          <a:prstGeom prst="rect">
            <a:avLst/>
          </a:prstGeom>
          <a:noFill/>
          <a:ln/>
        </p:spPr>
        <p:txBody>
          <a:bodyPr wrap="square" lIns="0" tIns="0" rIns="0" bIns="0" rtlCol="0" anchor="ctr"/>
          <a:lstStyle/>
          <a:p>
            <a:pPr marL="0" indent="0">
              <a:buNone/>
            </a:pPr>
            <a:r>
              <a:rPr lang="en-US" sz="850" b="1" dirty="0">
                <a:solidFill>
                  <a:srgbClr val="4A7EC0"/>
                </a:solidFill>
                <a:latin typeface="Calibri" pitchFamily="34" charset="0"/>
                <a:ea typeface="Calibri" pitchFamily="34" charset="-122"/>
                <a:cs typeface="Calibri" pitchFamily="34" charset="-120"/>
              </a:rPr>
              <a:t>Core Question:</a:t>
            </a:r>
            <a:endParaRPr lang="en-US" sz="850" dirty="0"/>
          </a:p>
        </p:txBody>
      </p:sp>
      <p:sp>
        <p:nvSpPr>
          <p:cNvPr id="9" name="Text 6"/>
          <p:cNvSpPr/>
          <p:nvPr/>
        </p:nvSpPr>
        <p:spPr>
          <a:xfrm>
            <a:off x="438912" y="1463040"/>
            <a:ext cx="8229600" cy="384048"/>
          </a:xfrm>
          <a:prstGeom prst="rect">
            <a:avLst/>
          </a:prstGeom>
          <a:noFill/>
          <a:ln/>
        </p:spPr>
        <p:txBody>
          <a:bodyPr wrap="square" lIns="0" tIns="0" rIns="0" bIns="0" rtlCol="0" anchor="ctr"/>
          <a:lstStyle/>
          <a:p>
            <a:pPr marL="0" indent="0">
              <a:buNone/>
            </a:pPr>
            <a:r>
              <a:rPr lang="en-US" sz="950" i="1" dirty="0">
                <a:solidFill>
                  <a:srgbClr val="2E3F5C"/>
                </a:solidFill>
                <a:latin typeface="Calibri" pitchFamily="34" charset="0"/>
                <a:ea typeface="Calibri" pitchFamily="34" charset="-122"/>
                <a:cs typeface="Calibri" pitchFamily="34" charset="-120"/>
              </a:rPr>
              <a:t>Once construction is complete and tenants move in, will rental income from 329 affordable units cover all operating costs and debt service obligations — and remain financially sustainable over a 30-year horizon?</a:t>
            </a:r>
            <a:endParaRPr lang="en-US" sz="950" dirty="0"/>
          </a:p>
        </p:txBody>
      </p:sp>
      <p:sp>
        <p:nvSpPr>
          <p:cNvPr id="10" name="Shape 7"/>
          <p:cNvSpPr/>
          <p:nvPr/>
        </p:nvSpPr>
        <p:spPr>
          <a:xfrm>
            <a:off x="256032" y="2029968"/>
            <a:ext cx="2048256" cy="2907792"/>
          </a:xfrm>
          <a:prstGeom prst="rect">
            <a:avLst/>
          </a:prstGeom>
          <a:solidFill>
            <a:srgbClr val="FFFFFF"/>
          </a:solidFill>
          <a:ln w="9525">
            <a:solidFill>
              <a:srgbClr val="DCE4F0"/>
            </a:solidFill>
            <a:prstDash val="solid"/>
          </a:ln>
          <a:effectLst>
            <a:outerShdw blurRad="101600" dist="25400" dir="8100000" algn="bl" rotWithShape="0">
              <a:srgbClr val="1A2744">
                <a:alpha val="8000"/>
              </a:srgbClr>
            </a:outerShdw>
          </a:effectLst>
        </p:spPr>
        <p:txBody>
          <a:bodyPr/>
          <a:lstStyle/>
          <a:p>
            <a:endParaRPr lang="en-IN"/>
          </a:p>
        </p:txBody>
      </p:sp>
      <p:sp>
        <p:nvSpPr>
          <p:cNvPr id="11" name="Shape 8"/>
          <p:cNvSpPr/>
          <p:nvPr/>
        </p:nvSpPr>
        <p:spPr>
          <a:xfrm>
            <a:off x="256032" y="2029968"/>
            <a:ext cx="2048256" cy="50292"/>
          </a:xfrm>
          <a:prstGeom prst="rect">
            <a:avLst/>
          </a:prstGeom>
          <a:solidFill>
            <a:srgbClr val="4A7EC0"/>
          </a:solidFill>
          <a:ln w="12700">
            <a:solidFill>
              <a:srgbClr val="4A7EC0"/>
            </a:solidFill>
            <a:prstDash val="solid"/>
          </a:ln>
        </p:spPr>
        <p:txBody>
          <a:bodyPr/>
          <a:lstStyle/>
          <a:p>
            <a:endParaRPr lang="en-IN"/>
          </a:p>
        </p:txBody>
      </p:sp>
      <p:sp>
        <p:nvSpPr>
          <p:cNvPr id="12" name="Shape 9"/>
          <p:cNvSpPr/>
          <p:nvPr/>
        </p:nvSpPr>
        <p:spPr>
          <a:xfrm>
            <a:off x="420624" y="2185416"/>
            <a:ext cx="438912" cy="438912"/>
          </a:xfrm>
          <a:prstGeom prst="ellipse">
            <a:avLst/>
          </a:prstGeom>
          <a:solidFill>
            <a:srgbClr val="4A7EC0"/>
          </a:solidFill>
          <a:ln w="12700">
            <a:solidFill>
              <a:srgbClr val="4A7EC0"/>
            </a:solidFill>
            <a:prstDash val="solid"/>
          </a:ln>
        </p:spPr>
        <p:txBody>
          <a:bodyPr/>
          <a:lstStyle/>
          <a:p>
            <a:endParaRPr lang="en-IN"/>
          </a:p>
        </p:txBody>
      </p:sp>
      <p:sp>
        <p:nvSpPr>
          <p:cNvPr id="13" name="Text 10"/>
          <p:cNvSpPr/>
          <p:nvPr/>
        </p:nvSpPr>
        <p:spPr>
          <a:xfrm>
            <a:off x="420624" y="2185416"/>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i</a:t>
            </a:r>
            <a:endParaRPr lang="en-US" sz="1600" dirty="0"/>
          </a:p>
        </p:txBody>
      </p:sp>
      <p:sp>
        <p:nvSpPr>
          <p:cNvPr id="14" name="Text 11"/>
          <p:cNvSpPr/>
          <p:nvPr/>
        </p:nvSpPr>
        <p:spPr>
          <a:xfrm>
            <a:off x="384048" y="2743200"/>
            <a:ext cx="1810512" cy="475488"/>
          </a:xfrm>
          <a:prstGeom prst="rect">
            <a:avLst/>
          </a:prstGeom>
          <a:noFill/>
          <a:ln/>
        </p:spPr>
        <p:txBody>
          <a:bodyPr wrap="square" lIns="0" tIns="0" rIns="0" bIns="0" rtlCol="0" anchor="ctr"/>
          <a:lstStyle/>
          <a:p>
            <a:pPr marL="0" indent="0">
              <a:buNone/>
            </a:pPr>
            <a:r>
              <a:rPr lang="en-US" sz="980" b="1" dirty="0">
                <a:solidFill>
                  <a:srgbClr val="1A2744"/>
                </a:solidFill>
                <a:latin typeface="Calibri" pitchFamily="34" charset="0"/>
                <a:ea typeface="Calibri" pitchFamily="34" charset="-122"/>
                <a:cs typeface="Calibri" pitchFamily="34" charset="-120"/>
              </a:rPr>
              <a:t>Assess Capital Structure</a:t>
            </a:r>
            <a:endParaRPr lang="en-US" sz="980" dirty="0"/>
          </a:p>
        </p:txBody>
      </p:sp>
      <p:sp>
        <p:nvSpPr>
          <p:cNvPr id="15" name="Shape 12"/>
          <p:cNvSpPr/>
          <p:nvPr/>
        </p:nvSpPr>
        <p:spPr>
          <a:xfrm>
            <a:off x="384048" y="3246120"/>
            <a:ext cx="1810512" cy="27432"/>
          </a:xfrm>
          <a:prstGeom prst="rect">
            <a:avLst/>
          </a:prstGeom>
          <a:solidFill>
            <a:srgbClr val="DCE4F0"/>
          </a:solidFill>
          <a:ln w="12700">
            <a:solidFill>
              <a:srgbClr val="DCE4F0"/>
            </a:solidFill>
            <a:prstDash val="solid"/>
          </a:ln>
        </p:spPr>
        <p:txBody>
          <a:bodyPr/>
          <a:lstStyle/>
          <a:p>
            <a:endParaRPr lang="en-IN"/>
          </a:p>
        </p:txBody>
      </p:sp>
      <p:sp>
        <p:nvSpPr>
          <p:cNvPr id="16" name="Text 13"/>
          <p:cNvSpPr/>
          <p:nvPr/>
        </p:nvSpPr>
        <p:spPr>
          <a:xfrm>
            <a:off x="384048" y="3328416"/>
            <a:ext cx="1810512" cy="1316736"/>
          </a:xfrm>
          <a:prstGeom prst="rect">
            <a:avLst/>
          </a:prstGeom>
          <a:noFill/>
          <a:ln/>
        </p:spPr>
        <p:txBody>
          <a:bodyPr wrap="square" lIns="0" tIns="0" rIns="0" bIns="0" rtlCol="0" anchor="ctr"/>
          <a:lstStyle/>
          <a:p>
            <a:pPr marL="0" indent="0">
              <a:buNone/>
            </a:pPr>
            <a:r>
              <a:rPr lang="en-US" sz="800" dirty="0">
                <a:solidFill>
                  <a:srgbClr val="2E3F5C"/>
                </a:solidFill>
                <a:latin typeface="Calibri" pitchFamily="34" charset="0"/>
                <a:ea typeface="Calibri" pitchFamily="34" charset="-122"/>
                <a:cs typeface="Calibri" pitchFamily="34" charset="-120"/>
              </a:rPr>
              <a:t>Examine whether total permanent financing sources (LIHTC equity, HPD NCF subsidy, HFA mortgage, deferred developer fee) are sufficient to cover the Total Development Cost of USD 248.7 million with no residual funding gap.</a:t>
            </a:r>
            <a:endParaRPr lang="en-US" sz="800" dirty="0"/>
          </a:p>
        </p:txBody>
      </p:sp>
      <p:sp>
        <p:nvSpPr>
          <p:cNvPr id="17" name="Shape 14"/>
          <p:cNvSpPr/>
          <p:nvPr/>
        </p:nvSpPr>
        <p:spPr>
          <a:xfrm>
            <a:off x="384048" y="4626864"/>
            <a:ext cx="1810512" cy="237744"/>
          </a:xfrm>
          <a:prstGeom prst="rect">
            <a:avLst/>
          </a:prstGeom>
          <a:solidFill>
            <a:srgbClr val="EEF4FF"/>
          </a:solidFill>
          <a:ln w="12700">
            <a:solidFill>
              <a:srgbClr val="DCE4F0"/>
            </a:solidFill>
            <a:prstDash val="solid"/>
          </a:ln>
        </p:spPr>
        <p:txBody>
          <a:bodyPr/>
          <a:lstStyle/>
          <a:p>
            <a:endParaRPr lang="en-IN"/>
          </a:p>
        </p:txBody>
      </p:sp>
      <p:sp>
        <p:nvSpPr>
          <p:cNvPr id="18" name="Text 15"/>
          <p:cNvSpPr/>
          <p:nvPr/>
        </p:nvSpPr>
        <p:spPr>
          <a:xfrm>
            <a:off x="384048" y="4626864"/>
            <a:ext cx="1810512" cy="237744"/>
          </a:xfrm>
          <a:prstGeom prst="rect">
            <a:avLst/>
          </a:prstGeom>
          <a:noFill/>
          <a:ln/>
        </p:spPr>
        <p:txBody>
          <a:bodyPr wrap="square" lIns="0" tIns="0" rIns="0" bIns="0" rtlCol="0" anchor="ctr"/>
          <a:lstStyle/>
          <a:p>
            <a:pPr marL="0" indent="0" algn="ctr">
              <a:buNone/>
            </a:pPr>
            <a:r>
              <a:rPr lang="en-US" sz="750" b="1" dirty="0">
                <a:solidFill>
                  <a:srgbClr val="4A7EC0"/>
                </a:solidFill>
                <a:latin typeface="Calibri" pitchFamily="34" charset="0"/>
                <a:ea typeface="Calibri" pitchFamily="34" charset="-122"/>
                <a:cs typeface="Calibri" pitchFamily="34" charset="-120"/>
              </a:rPr>
              <a:t>Obj. 1, 5 &amp; 6</a:t>
            </a:r>
            <a:endParaRPr lang="en-US" sz="750" dirty="0"/>
          </a:p>
        </p:txBody>
      </p:sp>
      <p:sp>
        <p:nvSpPr>
          <p:cNvPr id="19" name="Shape 16"/>
          <p:cNvSpPr/>
          <p:nvPr/>
        </p:nvSpPr>
        <p:spPr>
          <a:xfrm>
            <a:off x="2450592" y="2029968"/>
            <a:ext cx="2048256" cy="2907792"/>
          </a:xfrm>
          <a:prstGeom prst="rect">
            <a:avLst/>
          </a:prstGeom>
          <a:solidFill>
            <a:srgbClr val="FFFFFF"/>
          </a:solidFill>
          <a:ln w="9525">
            <a:solidFill>
              <a:srgbClr val="DCE4F0"/>
            </a:solidFill>
            <a:prstDash val="solid"/>
          </a:ln>
          <a:effectLst>
            <a:outerShdw blurRad="101600" dist="25400" dir="8100000" algn="bl" rotWithShape="0">
              <a:srgbClr val="1A2744">
                <a:alpha val="8000"/>
              </a:srgbClr>
            </a:outerShdw>
          </a:effectLst>
        </p:spPr>
        <p:txBody>
          <a:bodyPr/>
          <a:lstStyle/>
          <a:p>
            <a:endParaRPr lang="en-IN"/>
          </a:p>
        </p:txBody>
      </p:sp>
      <p:sp>
        <p:nvSpPr>
          <p:cNvPr id="20" name="Shape 17"/>
          <p:cNvSpPr/>
          <p:nvPr/>
        </p:nvSpPr>
        <p:spPr>
          <a:xfrm>
            <a:off x="2450592" y="2029968"/>
            <a:ext cx="2048256" cy="50292"/>
          </a:xfrm>
          <a:prstGeom prst="rect">
            <a:avLst/>
          </a:prstGeom>
          <a:solidFill>
            <a:srgbClr val="4A7EC0"/>
          </a:solidFill>
          <a:ln w="12700">
            <a:solidFill>
              <a:srgbClr val="4A7EC0"/>
            </a:solidFill>
            <a:prstDash val="solid"/>
          </a:ln>
        </p:spPr>
        <p:txBody>
          <a:bodyPr/>
          <a:lstStyle/>
          <a:p>
            <a:endParaRPr lang="en-IN"/>
          </a:p>
        </p:txBody>
      </p:sp>
      <p:sp>
        <p:nvSpPr>
          <p:cNvPr id="21" name="Shape 18"/>
          <p:cNvSpPr/>
          <p:nvPr/>
        </p:nvSpPr>
        <p:spPr>
          <a:xfrm>
            <a:off x="2615184" y="2185416"/>
            <a:ext cx="438912" cy="438912"/>
          </a:xfrm>
          <a:prstGeom prst="ellipse">
            <a:avLst/>
          </a:prstGeom>
          <a:solidFill>
            <a:srgbClr val="4A7EC0"/>
          </a:solidFill>
          <a:ln w="12700">
            <a:solidFill>
              <a:srgbClr val="4A7EC0"/>
            </a:solidFill>
            <a:prstDash val="solid"/>
          </a:ln>
        </p:spPr>
        <p:txBody>
          <a:bodyPr/>
          <a:lstStyle/>
          <a:p>
            <a:endParaRPr lang="en-IN"/>
          </a:p>
        </p:txBody>
      </p:sp>
      <p:sp>
        <p:nvSpPr>
          <p:cNvPr id="22" name="Text 19"/>
          <p:cNvSpPr/>
          <p:nvPr/>
        </p:nvSpPr>
        <p:spPr>
          <a:xfrm>
            <a:off x="2615184" y="2185416"/>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ii</a:t>
            </a:r>
            <a:endParaRPr lang="en-US" sz="1600" dirty="0"/>
          </a:p>
        </p:txBody>
      </p:sp>
      <p:sp>
        <p:nvSpPr>
          <p:cNvPr id="23" name="Text 20"/>
          <p:cNvSpPr/>
          <p:nvPr/>
        </p:nvSpPr>
        <p:spPr>
          <a:xfrm>
            <a:off x="2578608" y="2743200"/>
            <a:ext cx="1810512" cy="475488"/>
          </a:xfrm>
          <a:prstGeom prst="rect">
            <a:avLst/>
          </a:prstGeom>
          <a:noFill/>
          <a:ln/>
        </p:spPr>
        <p:txBody>
          <a:bodyPr wrap="square" lIns="0" tIns="0" rIns="0" bIns="0" rtlCol="0" anchor="ctr"/>
          <a:lstStyle/>
          <a:p>
            <a:pPr marL="0" indent="0">
              <a:buNone/>
            </a:pPr>
            <a:r>
              <a:rPr lang="en-US" sz="980" b="1" dirty="0">
                <a:solidFill>
                  <a:srgbClr val="1A2744"/>
                </a:solidFill>
                <a:latin typeface="Calibri" pitchFamily="34" charset="0"/>
                <a:ea typeface="Calibri" pitchFamily="34" charset="-122"/>
                <a:cs typeface="Calibri" pitchFamily="34" charset="-120"/>
              </a:rPr>
              <a:t>Evaluate Income Capacity</a:t>
            </a:r>
            <a:endParaRPr lang="en-US" sz="980" dirty="0"/>
          </a:p>
        </p:txBody>
      </p:sp>
      <p:sp>
        <p:nvSpPr>
          <p:cNvPr id="24" name="Shape 21"/>
          <p:cNvSpPr/>
          <p:nvPr/>
        </p:nvSpPr>
        <p:spPr>
          <a:xfrm>
            <a:off x="2578608" y="3246120"/>
            <a:ext cx="1810512" cy="27432"/>
          </a:xfrm>
          <a:prstGeom prst="rect">
            <a:avLst/>
          </a:prstGeom>
          <a:solidFill>
            <a:srgbClr val="DCE4F0"/>
          </a:solidFill>
          <a:ln w="12700">
            <a:solidFill>
              <a:srgbClr val="DCE4F0"/>
            </a:solidFill>
            <a:prstDash val="solid"/>
          </a:ln>
        </p:spPr>
        <p:txBody>
          <a:bodyPr/>
          <a:lstStyle/>
          <a:p>
            <a:endParaRPr lang="en-IN"/>
          </a:p>
        </p:txBody>
      </p:sp>
      <p:sp>
        <p:nvSpPr>
          <p:cNvPr id="25" name="Text 22"/>
          <p:cNvSpPr/>
          <p:nvPr/>
        </p:nvSpPr>
        <p:spPr>
          <a:xfrm>
            <a:off x="2578608" y="3328416"/>
            <a:ext cx="1810512" cy="1316736"/>
          </a:xfrm>
          <a:prstGeom prst="rect">
            <a:avLst/>
          </a:prstGeom>
          <a:noFill/>
          <a:ln/>
        </p:spPr>
        <p:txBody>
          <a:bodyPr wrap="square" lIns="0" tIns="0" rIns="0" bIns="0" rtlCol="0" anchor="ctr"/>
          <a:lstStyle/>
          <a:p>
            <a:pPr marL="0" indent="0">
              <a:buNone/>
            </a:pPr>
            <a:r>
              <a:rPr lang="en-US" sz="800" dirty="0">
                <a:solidFill>
                  <a:srgbClr val="2E3F5C"/>
                </a:solidFill>
                <a:latin typeface="Calibri" pitchFamily="34" charset="0"/>
                <a:ea typeface="Calibri" pitchFamily="34" charset="-122"/>
                <a:cs typeface="Calibri" pitchFamily="34" charset="-120"/>
              </a:rPr>
              <a:t>Analyse the unit mix, AMI tier distribution (30%–80%), rent limits, and vacancy assumptions to determine whether projected Effective Gross Income is realistic and consistent with HUD rent schedules.</a:t>
            </a:r>
            <a:endParaRPr lang="en-US" sz="800" dirty="0"/>
          </a:p>
        </p:txBody>
      </p:sp>
      <p:sp>
        <p:nvSpPr>
          <p:cNvPr id="26" name="Shape 23"/>
          <p:cNvSpPr/>
          <p:nvPr/>
        </p:nvSpPr>
        <p:spPr>
          <a:xfrm>
            <a:off x="2578608" y="4626864"/>
            <a:ext cx="1810512" cy="237744"/>
          </a:xfrm>
          <a:prstGeom prst="rect">
            <a:avLst/>
          </a:prstGeom>
          <a:solidFill>
            <a:srgbClr val="EEF4FF"/>
          </a:solidFill>
          <a:ln w="12700">
            <a:solidFill>
              <a:srgbClr val="DCE4F0"/>
            </a:solidFill>
            <a:prstDash val="solid"/>
          </a:ln>
        </p:spPr>
        <p:txBody>
          <a:bodyPr/>
          <a:lstStyle/>
          <a:p>
            <a:endParaRPr lang="en-IN"/>
          </a:p>
        </p:txBody>
      </p:sp>
      <p:sp>
        <p:nvSpPr>
          <p:cNvPr id="27" name="Text 24"/>
          <p:cNvSpPr/>
          <p:nvPr/>
        </p:nvSpPr>
        <p:spPr>
          <a:xfrm>
            <a:off x="2578608" y="4626864"/>
            <a:ext cx="1810512" cy="237744"/>
          </a:xfrm>
          <a:prstGeom prst="rect">
            <a:avLst/>
          </a:prstGeom>
          <a:noFill/>
          <a:ln/>
        </p:spPr>
        <p:txBody>
          <a:bodyPr wrap="square" lIns="0" tIns="0" rIns="0" bIns="0" rtlCol="0" anchor="ctr"/>
          <a:lstStyle/>
          <a:p>
            <a:pPr marL="0" indent="0" algn="ctr">
              <a:buNone/>
            </a:pPr>
            <a:r>
              <a:rPr lang="en-US" sz="750" b="1" dirty="0">
                <a:solidFill>
                  <a:srgbClr val="4A7EC0"/>
                </a:solidFill>
                <a:latin typeface="Calibri" pitchFamily="34" charset="0"/>
                <a:ea typeface="Calibri" pitchFamily="34" charset="-122"/>
                <a:cs typeface="Calibri" pitchFamily="34" charset="-120"/>
              </a:rPr>
              <a:t>Obj. 2 &amp; 4</a:t>
            </a:r>
            <a:endParaRPr lang="en-US" sz="750" dirty="0"/>
          </a:p>
        </p:txBody>
      </p:sp>
      <p:sp>
        <p:nvSpPr>
          <p:cNvPr id="28" name="Shape 25"/>
          <p:cNvSpPr/>
          <p:nvPr/>
        </p:nvSpPr>
        <p:spPr>
          <a:xfrm>
            <a:off x="4645152" y="2029968"/>
            <a:ext cx="2048256" cy="2907792"/>
          </a:xfrm>
          <a:prstGeom prst="rect">
            <a:avLst/>
          </a:prstGeom>
          <a:solidFill>
            <a:srgbClr val="FFFFFF"/>
          </a:solidFill>
          <a:ln w="9525">
            <a:solidFill>
              <a:srgbClr val="DCE4F0"/>
            </a:solidFill>
            <a:prstDash val="solid"/>
          </a:ln>
          <a:effectLst>
            <a:outerShdw blurRad="101600" dist="25400" dir="8100000" algn="bl" rotWithShape="0">
              <a:srgbClr val="1A2744">
                <a:alpha val="8000"/>
              </a:srgbClr>
            </a:outerShdw>
          </a:effectLst>
        </p:spPr>
        <p:txBody>
          <a:bodyPr/>
          <a:lstStyle/>
          <a:p>
            <a:endParaRPr lang="en-IN"/>
          </a:p>
        </p:txBody>
      </p:sp>
      <p:sp>
        <p:nvSpPr>
          <p:cNvPr id="29" name="Shape 26"/>
          <p:cNvSpPr/>
          <p:nvPr/>
        </p:nvSpPr>
        <p:spPr>
          <a:xfrm>
            <a:off x="4645152" y="2029968"/>
            <a:ext cx="2048256" cy="50292"/>
          </a:xfrm>
          <a:prstGeom prst="rect">
            <a:avLst/>
          </a:prstGeom>
          <a:solidFill>
            <a:srgbClr val="4A7EC0"/>
          </a:solidFill>
          <a:ln w="12700">
            <a:solidFill>
              <a:srgbClr val="4A7EC0"/>
            </a:solidFill>
            <a:prstDash val="solid"/>
          </a:ln>
        </p:spPr>
        <p:txBody>
          <a:bodyPr/>
          <a:lstStyle/>
          <a:p>
            <a:endParaRPr lang="en-IN"/>
          </a:p>
        </p:txBody>
      </p:sp>
      <p:sp>
        <p:nvSpPr>
          <p:cNvPr id="30" name="Shape 27"/>
          <p:cNvSpPr/>
          <p:nvPr/>
        </p:nvSpPr>
        <p:spPr>
          <a:xfrm>
            <a:off x="4809744" y="2185416"/>
            <a:ext cx="438912" cy="438912"/>
          </a:xfrm>
          <a:prstGeom prst="ellipse">
            <a:avLst/>
          </a:prstGeom>
          <a:solidFill>
            <a:srgbClr val="4A7EC0"/>
          </a:solidFill>
          <a:ln w="12700">
            <a:solidFill>
              <a:srgbClr val="4A7EC0"/>
            </a:solidFill>
            <a:prstDash val="solid"/>
          </a:ln>
        </p:spPr>
        <p:txBody>
          <a:bodyPr/>
          <a:lstStyle/>
          <a:p>
            <a:endParaRPr lang="en-IN"/>
          </a:p>
        </p:txBody>
      </p:sp>
      <p:sp>
        <p:nvSpPr>
          <p:cNvPr id="31" name="Text 28"/>
          <p:cNvSpPr/>
          <p:nvPr/>
        </p:nvSpPr>
        <p:spPr>
          <a:xfrm>
            <a:off x="4809744" y="2185416"/>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iii</a:t>
            </a:r>
            <a:endParaRPr lang="en-US" sz="1600" dirty="0"/>
          </a:p>
        </p:txBody>
      </p:sp>
      <p:sp>
        <p:nvSpPr>
          <p:cNvPr id="32" name="Text 29"/>
          <p:cNvSpPr/>
          <p:nvPr/>
        </p:nvSpPr>
        <p:spPr>
          <a:xfrm>
            <a:off x="4773168" y="2743200"/>
            <a:ext cx="1810512" cy="475488"/>
          </a:xfrm>
          <a:prstGeom prst="rect">
            <a:avLst/>
          </a:prstGeom>
          <a:noFill/>
          <a:ln/>
        </p:spPr>
        <p:txBody>
          <a:bodyPr wrap="square" lIns="0" tIns="0" rIns="0" bIns="0" rtlCol="0" anchor="ctr"/>
          <a:lstStyle/>
          <a:p>
            <a:pPr marL="0" indent="0">
              <a:buNone/>
            </a:pPr>
            <a:r>
              <a:rPr lang="en-US" sz="980" b="1" dirty="0">
                <a:solidFill>
                  <a:srgbClr val="1A2744"/>
                </a:solidFill>
                <a:latin typeface="Calibri" pitchFamily="34" charset="0"/>
                <a:ea typeface="Calibri" pitchFamily="34" charset="-122"/>
                <a:cs typeface="Calibri" pitchFamily="34" charset="-120"/>
              </a:rPr>
              <a:t>Test Debt Coverage</a:t>
            </a:r>
            <a:endParaRPr lang="en-US" sz="980" dirty="0"/>
          </a:p>
        </p:txBody>
      </p:sp>
      <p:sp>
        <p:nvSpPr>
          <p:cNvPr id="33" name="Shape 30"/>
          <p:cNvSpPr/>
          <p:nvPr/>
        </p:nvSpPr>
        <p:spPr>
          <a:xfrm>
            <a:off x="4773168" y="3246120"/>
            <a:ext cx="1810512" cy="27432"/>
          </a:xfrm>
          <a:prstGeom prst="rect">
            <a:avLst/>
          </a:prstGeom>
          <a:solidFill>
            <a:srgbClr val="DCE4F0"/>
          </a:solidFill>
          <a:ln w="12700">
            <a:solidFill>
              <a:srgbClr val="DCE4F0"/>
            </a:solidFill>
            <a:prstDash val="solid"/>
          </a:ln>
        </p:spPr>
        <p:txBody>
          <a:bodyPr/>
          <a:lstStyle/>
          <a:p>
            <a:endParaRPr lang="en-IN"/>
          </a:p>
        </p:txBody>
      </p:sp>
      <p:sp>
        <p:nvSpPr>
          <p:cNvPr id="34" name="Text 31"/>
          <p:cNvSpPr/>
          <p:nvPr/>
        </p:nvSpPr>
        <p:spPr>
          <a:xfrm>
            <a:off x="4773168" y="3328416"/>
            <a:ext cx="1810512" cy="1316736"/>
          </a:xfrm>
          <a:prstGeom prst="rect">
            <a:avLst/>
          </a:prstGeom>
          <a:noFill/>
          <a:ln/>
        </p:spPr>
        <p:txBody>
          <a:bodyPr wrap="square" lIns="0" tIns="0" rIns="0" bIns="0" rtlCol="0" anchor="ctr"/>
          <a:lstStyle/>
          <a:p>
            <a:pPr marL="0" indent="0">
              <a:buNone/>
            </a:pPr>
            <a:r>
              <a:rPr lang="en-US" sz="800" dirty="0">
                <a:solidFill>
                  <a:srgbClr val="2E3F5C"/>
                </a:solidFill>
                <a:latin typeface="Calibri" pitchFamily="34" charset="0"/>
                <a:ea typeface="Calibri" pitchFamily="34" charset="-122"/>
                <a:cs typeface="Calibri" pitchFamily="34" charset="-120"/>
              </a:rPr>
              <a:t>Determine whether Net Operating Income is sufficient to meet the HFA mortgage debt service and satisfy both the NCF minimum DSCR of 1.15x and the SONYMA MIF minimum I/E ratio of 1.05x across the 30-year period.</a:t>
            </a:r>
            <a:endParaRPr lang="en-US" sz="800" dirty="0"/>
          </a:p>
        </p:txBody>
      </p:sp>
      <p:sp>
        <p:nvSpPr>
          <p:cNvPr id="35" name="Shape 32"/>
          <p:cNvSpPr/>
          <p:nvPr/>
        </p:nvSpPr>
        <p:spPr>
          <a:xfrm>
            <a:off x="4773168" y="4626864"/>
            <a:ext cx="1810512" cy="237744"/>
          </a:xfrm>
          <a:prstGeom prst="rect">
            <a:avLst/>
          </a:prstGeom>
          <a:solidFill>
            <a:srgbClr val="EEF4FF"/>
          </a:solidFill>
          <a:ln w="12700">
            <a:solidFill>
              <a:srgbClr val="DCE4F0"/>
            </a:solidFill>
            <a:prstDash val="solid"/>
          </a:ln>
        </p:spPr>
        <p:txBody>
          <a:bodyPr/>
          <a:lstStyle/>
          <a:p>
            <a:endParaRPr lang="en-IN"/>
          </a:p>
        </p:txBody>
      </p:sp>
      <p:sp>
        <p:nvSpPr>
          <p:cNvPr id="36" name="Text 33"/>
          <p:cNvSpPr/>
          <p:nvPr/>
        </p:nvSpPr>
        <p:spPr>
          <a:xfrm>
            <a:off x="4773168" y="4626864"/>
            <a:ext cx="1810512" cy="237744"/>
          </a:xfrm>
          <a:prstGeom prst="rect">
            <a:avLst/>
          </a:prstGeom>
          <a:noFill/>
          <a:ln/>
        </p:spPr>
        <p:txBody>
          <a:bodyPr wrap="square" lIns="0" tIns="0" rIns="0" bIns="0" rtlCol="0" anchor="ctr"/>
          <a:lstStyle/>
          <a:p>
            <a:pPr marL="0" indent="0" algn="ctr">
              <a:buNone/>
            </a:pPr>
            <a:r>
              <a:rPr lang="en-US" sz="750" b="1" dirty="0">
                <a:solidFill>
                  <a:srgbClr val="4A7EC0"/>
                </a:solidFill>
                <a:latin typeface="Calibri" pitchFamily="34" charset="0"/>
                <a:ea typeface="Calibri" pitchFamily="34" charset="-122"/>
                <a:cs typeface="Calibri" pitchFamily="34" charset="-120"/>
              </a:rPr>
              <a:t>Obj. 3</a:t>
            </a:r>
            <a:endParaRPr lang="en-US" sz="750" dirty="0"/>
          </a:p>
        </p:txBody>
      </p:sp>
      <p:sp>
        <p:nvSpPr>
          <p:cNvPr id="37" name="Shape 34"/>
          <p:cNvSpPr/>
          <p:nvPr/>
        </p:nvSpPr>
        <p:spPr>
          <a:xfrm>
            <a:off x="6839712" y="2029968"/>
            <a:ext cx="2048256" cy="2907792"/>
          </a:xfrm>
          <a:prstGeom prst="rect">
            <a:avLst/>
          </a:prstGeom>
          <a:solidFill>
            <a:srgbClr val="FFFFFF"/>
          </a:solidFill>
          <a:ln w="9525">
            <a:solidFill>
              <a:srgbClr val="DCE4F0"/>
            </a:solidFill>
            <a:prstDash val="solid"/>
          </a:ln>
          <a:effectLst>
            <a:outerShdw blurRad="101600" dist="25400" dir="8100000" algn="bl" rotWithShape="0">
              <a:srgbClr val="1A2744">
                <a:alpha val="8000"/>
              </a:srgbClr>
            </a:outerShdw>
          </a:effectLst>
        </p:spPr>
        <p:txBody>
          <a:bodyPr/>
          <a:lstStyle/>
          <a:p>
            <a:endParaRPr lang="en-IN"/>
          </a:p>
        </p:txBody>
      </p:sp>
      <p:sp>
        <p:nvSpPr>
          <p:cNvPr id="38" name="Shape 35"/>
          <p:cNvSpPr/>
          <p:nvPr/>
        </p:nvSpPr>
        <p:spPr>
          <a:xfrm>
            <a:off x="6839712" y="2029968"/>
            <a:ext cx="2048256" cy="50292"/>
          </a:xfrm>
          <a:prstGeom prst="rect">
            <a:avLst/>
          </a:prstGeom>
          <a:solidFill>
            <a:srgbClr val="4A7EC0"/>
          </a:solidFill>
          <a:ln w="12700">
            <a:solidFill>
              <a:srgbClr val="4A7EC0"/>
            </a:solidFill>
            <a:prstDash val="solid"/>
          </a:ln>
        </p:spPr>
        <p:txBody>
          <a:bodyPr/>
          <a:lstStyle/>
          <a:p>
            <a:endParaRPr lang="en-IN"/>
          </a:p>
        </p:txBody>
      </p:sp>
      <p:sp>
        <p:nvSpPr>
          <p:cNvPr id="39" name="Shape 36"/>
          <p:cNvSpPr/>
          <p:nvPr/>
        </p:nvSpPr>
        <p:spPr>
          <a:xfrm>
            <a:off x="7004304" y="2185416"/>
            <a:ext cx="438912" cy="438912"/>
          </a:xfrm>
          <a:prstGeom prst="ellipse">
            <a:avLst/>
          </a:prstGeom>
          <a:solidFill>
            <a:srgbClr val="4A7EC0"/>
          </a:solidFill>
          <a:ln w="12700">
            <a:solidFill>
              <a:srgbClr val="4A7EC0"/>
            </a:solidFill>
            <a:prstDash val="solid"/>
          </a:ln>
        </p:spPr>
        <p:txBody>
          <a:bodyPr/>
          <a:lstStyle/>
          <a:p>
            <a:endParaRPr lang="en-IN"/>
          </a:p>
        </p:txBody>
      </p:sp>
      <p:sp>
        <p:nvSpPr>
          <p:cNvPr id="40" name="Text 37"/>
          <p:cNvSpPr/>
          <p:nvPr/>
        </p:nvSpPr>
        <p:spPr>
          <a:xfrm>
            <a:off x="7004304" y="2185416"/>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iv</a:t>
            </a:r>
            <a:endParaRPr lang="en-US" sz="1600" dirty="0"/>
          </a:p>
        </p:txBody>
      </p:sp>
      <p:sp>
        <p:nvSpPr>
          <p:cNvPr id="41" name="Text 38"/>
          <p:cNvSpPr/>
          <p:nvPr/>
        </p:nvSpPr>
        <p:spPr>
          <a:xfrm>
            <a:off x="6967728" y="2743200"/>
            <a:ext cx="1810512" cy="475488"/>
          </a:xfrm>
          <a:prstGeom prst="rect">
            <a:avLst/>
          </a:prstGeom>
          <a:noFill/>
          <a:ln/>
        </p:spPr>
        <p:txBody>
          <a:bodyPr wrap="square" lIns="0" tIns="0" rIns="0" bIns="0" rtlCol="0" anchor="ctr"/>
          <a:lstStyle/>
          <a:p>
            <a:pPr marL="0" indent="0">
              <a:buNone/>
            </a:pPr>
            <a:r>
              <a:rPr lang="en-US" sz="980" b="1" dirty="0">
                <a:solidFill>
                  <a:srgbClr val="1A2744"/>
                </a:solidFill>
                <a:latin typeface="Calibri" pitchFamily="34" charset="0"/>
                <a:ea typeface="Calibri" pitchFamily="34" charset="-122"/>
                <a:cs typeface="Calibri" pitchFamily="34" charset="-120"/>
              </a:rPr>
              <a:t>Sensitivity &amp; Subsidy Dependence</a:t>
            </a:r>
            <a:endParaRPr lang="en-US" sz="980" dirty="0"/>
          </a:p>
        </p:txBody>
      </p:sp>
      <p:sp>
        <p:nvSpPr>
          <p:cNvPr id="42" name="Shape 39"/>
          <p:cNvSpPr/>
          <p:nvPr/>
        </p:nvSpPr>
        <p:spPr>
          <a:xfrm>
            <a:off x="6967728" y="3246120"/>
            <a:ext cx="1810512" cy="27432"/>
          </a:xfrm>
          <a:prstGeom prst="rect">
            <a:avLst/>
          </a:prstGeom>
          <a:solidFill>
            <a:srgbClr val="DCE4F0"/>
          </a:solidFill>
          <a:ln w="12700">
            <a:solidFill>
              <a:srgbClr val="DCE4F0"/>
            </a:solidFill>
            <a:prstDash val="solid"/>
          </a:ln>
        </p:spPr>
        <p:txBody>
          <a:bodyPr/>
          <a:lstStyle/>
          <a:p>
            <a:endParaRPr lang="en-IN"/>
          </a:p>
        </p:txBody>
      </p:sp>
      <p:sp>
        <p:nvSpPr>
          <p:cNvPr id="43" name="Text 40"/>
          <p:cNvSpPr/>
          <p:nvPr/>
        </p:nvSpPr>
        <p:spPr>
          <a:xfrm>
            <a:off x="6967728" y="3328416"/>
            <a:ext cx="1810512" cy="1316736"/>
          </a:xfrm>
          <a:prstGeom prst="rect">
            <a:avLst/>
          </a:prstGeom>
          <a:noFill/>
          <a:ln/>
        </p:spPr>
        <p:txBody>
          <a:bodyPr wrap="square" lIns="0" tIns="0" rIns="0" bIns="0" rtlCol="0" anchor="ctr"/>
          <a:lstStyle/>
          <a:p>
            <a:pPr marL="0" indent="0">
              <a:buNone/>
            </a:pPr>
            <a:r>
              <a:rPr lang="en-US" sz="800" dirty="0">
                <a:solidFill>
                  <a:srgbClr val="2E3F5C"/>
                </a:solidFill>
                <a:latin typeface="Calibri" pitchFamily="34" charset="0"/>
                <a:ea typeface="Calibri" pitchFamily="34" charset="-122"/>
                <a:cs typeface="Calibri" pitchFamily="34" charset="-120"/>
              </a:rPr>
              <a:t>Assess the directional impact of changes in vacancy rates, operating expense levels, and debt service costs on project viability, and determine the degree to which financial sustainability is structurally dependent on public subsidy.</a:t>
            </a:r>
            <a:endParaRPr lang="en-US" sz="800" dirty="0"/>
          </a:p>
        </p:txBody>
      </p:sp>
      <p:sp>
        <p:nvSpPr>
          <p:cNvPr id="44" name="Shape 41"/>
          <p:cNvSpPr/>
          <p:nvPr/>
        </p:nvSpPr>
        <p:spPr>
          <a:xfrm>
            <a:off x="6967728" y="4626864"/>
            <a:ext cx="1810512" cy="237744"/>
          </a:xfrm>
          <a:prstGeom prst="rect">
            <a:avLst/>
          </a:prstGeom>
          <a:solidFill>
            <a:srgbClr val="EEF4FF"/>
          </a:solidFill>
          <a:ln w="12700">
            <a:solidFill>
              <a:srgbClr val="DCE4F0"/>
            </a:solidFill>
            <a:prstDash val="solid"/>
          </a:ln>
        </p:spPr>
        <p:txBody>
          <a:bodyPr/>
          <a:lstStyle/>
          <a:p>
            <a:endParaRPr lang="en-IN"/>
          </a:p>
        </p:txBody>
      </p:sp>
      <p:sp>
        <p:nvSpPr>
          <p:cNvPr id="45" name="Text 42"/>
          <p:cNvSpPr/>
          <p:nvPr/>
        </p:nvSpPr>
        <p:spPr>
          <a:xfrm>
            <a:off x="6967728" y="4626864"/>
            <a:ext cx="1810512" cy="237744"/>
          </a:xfrm>
          <a:prstGeom prst="rect">
            <a:avLst/>
          </a:prstGeom>
          <a:noFill/>
          <a:ln/>
        </p:spPr>
        <p:txBody>
          <a:bodyPr wrap="square" lIns="0" tIns="0" rIns="0" bIns="0" rtlCol="0" anchor="ctr"/>
          <a:lstStyle/>
          <a:p>
            <a:pPr marL="0" indent="0" algn="ctr">
              <a:buNone/>
            </a:pPr>
            <a:r>
              <a:rPr lang="en-US" sz="750" b="1" dirty="0">
                <a:solidFill>
                  <a:srgbClr val="4A7EC0"/>
                </a:solidFill>
                <a:latin typeface="Calibri" pitchFamily="34" charset="0"/>
                <a:ea typeface="Calibri" pitchFamily="34" charset="-122"/>
                <a:cs typeface="Calibri" pitchFamily="34" charset="-120"/>
              </a:rPr>
              <a:t>Obj. 7 &amp; 8</a:t>
            </a:r>
            <a:endParaRPr lang="en-US" sz="750" dirty="0"/>
          </a:p>
        </p:txBody>
      </p:sp>
      <p:sp>
        <p:nvSpPr>
          <p:cNvPr id="46" name="Text 43"/>
          <p:cNvSpPr/>
          <p:nvPr/>
        </p:nvSpPr>
        <p:spPr>
          <a:xfrm>
            <a:off x="8686800" y="4846320"/>
            <a:ext cx="384048" cy="228600"/>
          </a:xfrm>
          <a:prstGeom prst="rect">
            <a:avLst/>
          </a:prstGeom>
          <a:noFill/>
          <a:ln/>
        </p:spPr>
        <p:txBody>
          <a:bodyPr wrap="square" lIns="0" tIns="0" rIns="0" bIns="0" rtlCol="0" anchor="ctr"/>
          <a:lstStyle/>
          <a:p>
            <a:pPr marL="0" indent="0" algn="r">
              <a:buNone/>
            </a:pPr>
            <a:r>
              <a:rPr lang="en-US" sz="900" dirty="0">
                <a:solidFill>
                  <a:srgbClr val="6B7A96"/>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9144000" cy="5143500"/>
          </a:xfrm>
          <a:prstGeom prst="rect">
            <a:avLst/>
          </a:prstGeom>
        </p:spPr>
      </p:pic>
      <p:sp>
        <p:nvSpPr>
          <p:cNvPr id="3" name="TextBox 2"/>
          <p:cNvSpPr txBox="1"/>
          <p:nvPr/>
        </p:nvSpPr>
        <p:spPr>
          <a:xfrm>
            <a:off x="384048" y="201168"/>
            <a:ext cx="6400800" cy="530352"/>
          </a:xfrm>
          <a:prstGeom prst="rect">
            <a:avLst/>
          </a:prstGeom>
          <a:noFill/>
        </p:spPr>
        <p:txBody>
          <a:bodyPr wrap="square">
            <a:spAutoFit/>
          </a:bodyPr>
          <a:lstStyle/>
          <a:p>
            <a:r>
              <a:rPr sz="3000" b="0" i="0">
                <a:solidFill>
                  <a:srgbClr val="1A2744"/>
                </a:solidFill>
                <a:latin typeface="Georgia"/>
              </a:rPr>
              <a:t>Data Sources</a:t>
            </a:r>
          </a:p>
        </p:txBody>
      </p:sp>
      <p:sp>
        <p:nvSpPr>
          <p:cNvPr id="4" name="Rectangle 3"/>
          <p:cNvSpPr/>
          <p:nvPr/>
        </p:nvSpPr>
        <p:spPr>
          <a:xfrm>
            <a:off x="384048" y="768096"/>
            <a:ext cx="1463040" cy="41148"/>
          </a:xfrm>
          <a:prstGeom prst="rect">
            <a:avLst/>
          </a:prstGeom>
          <a:solidFill>
            <a:srgbClr val="4A7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84048" y="859536"/>
            <a:ext cx="7315200" cy="237744"/>
          </a:xfrm>
          <a:prstGeom prst="rect">
            <a:avLst/>
          </a:prstGeom>
          <a:noFill/>
        </p:spPr>
        <p:txBody>
          <a:bodyPr wrap="square">
            <a:spAutoFit/>
          </a:bodyPr>
          <a:lstStyle/>
          <a:p>
            <a:r>
              <a:rPr sz="1050" b="0" i="1">
                <a:solidFill>
                  <a:srgbClr val="6B7A96"/>
                </a:solidFill>
                <a:latin typeface="Calibri"/>
              </a:rPr>
              <a:t>How this study is built — and why market research is central to it</a:t>
            </a:r>
          </a:p>
        </p:txBody>
      </p:sp>
      <p:sp>
        <p:nvSpPr>
          <p:cNvPr id="6" name="Rectangle 5"/>
          <p:cNvSpPr/>
          <p:nvPr/>
        </p:nvSpPr>
        <p:spPr>
          <a:xfrm>
            <a:off x="256032" y="1207008"/>
            <a:ext cx="8631936" cy="731520"/>
          </a:xfrm>
          <a:prstGeom prst="rect">
            <a:avLst/>
          </a:prstGeom>
          <a:solidFill>
            <a:srgbClr val="F0F5FF"/>
          </a:solidFill>
          <a:ln w="9525">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 y="1207008"/>
            <a:ext cx="50292" cy="731520"/>
          </a:xfrm>
          <a:prstGeom prst="rect">
            <a:avLst/>
          </a:prstGeom>
          <a:solidFill>
            <a:srgbClr val="2D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0624" y="1261872"/>
            <a:ext cx="8321040" cy="603504"/>
          </a:xfrm>
          <a:prstGeom prst="rect">
            <a:avLst/>
          </a:prstGeom>
          <a:noFill/>
        </p:spPr>
        <p:txBody>
          <a:bodyPr wrap="square">
            <a:spAutoFit/>
          </a:bodyPr>
          <a:lstStyle/>
          <a:p>
            <a:r>
              <a:rPr sz="900" b="0" i="1">
                <a:solidFill>
                  <a:srgbClr val="2E3F5C"/>
                </a:solidFill>
                <a:latin typeface="Calibri"/>
              </a:rPr>
              <a:t>This study is based entirely on secondary data. No primary data collection — no surveys, interviews, or field observations — was undertaken. The analysis draws on two principal sources, with market research data underpinning the financial inputs throughout.</a:t>
            </a:r>
          </a:p>
        </p:txBody>
      </p:sp>
      <p:sp>
        <p:nvSpPr>
          <p:cNvPr id="9" name="Rectangle 8"/>
          <p:cNvSpPr/>
          <p:nvPr/>
        </p:nvSpPr>
        <p:spPr>
          <a:xfrm>
            <a:off x="256032" y="2048256"/>
            <a:ext cx="4187952" cy="2834640"/>
          </a:xfrm>
          <a:prstGeom prst="rect">
            <a:avLst/>
          </a:prstGeom>
          <a:solidFill>
            <a:srgbClr val="FFFFFF"/>
          </a:solidFill>
          <a:ln w="9525">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6032" y="2048256"/>
            <a:ext cx="50292" cy="2834640"/>
          </a:xfrm>
          <a:prstGeom prst="rect">
            <a:avLst/>
          </a:prstGeom>
          <a:solidFill>
            <a:srgbClr val="4A7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84048" y="2176272"/>
            <a:ext cx="3950208" cy="237744"/>
          </a:xfrm>
          <a:prstGeom prst="rect">
            <a:avLst/>
          </a:prstGeom>
          <a:solidFill>
            <a:srgbClr val="F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0624" y="2194560"/>
            <a:ext cx="3913632" cy="201168"/>
          </a:xfrm>
          <a:prstGeom prst="rect">
            <a:avLst/>
          </a:prstGeom>
          <a:noFill/>
        </p:spPr>
        <p:txBody>
          <a:bodyPr wrap="none">
            <a:spAutoFit/>
          </a:bodyPr>
          <a:lstStyle/>
          <a:p>
            <a:r>
              <a:rPr sz="800" b="1" i="0">
                <a:solidFill>
                  <a:srgbClr val="2D4EA2"/>
                </a:solidFill>
                <a:latin typeface="Calibri"/>
              </a:rPr>
              <a:t>Regulatory Benchmark</a:t>
            </a:r>
          </a:p>
        </p:txBody>
      </p:sp>
      <p:sp>
        <p:nvSpPr>
          <p:cNvPr id="13" name="TextBox 12"/>
          <p:cNvSpPr txBox="1"/>
          <p:nvPr/>
        </p:nvSpPr>
        <p:spPr>
          <a:xfrm>
            <a:off x="384048" y="2505456"/>
            <a:ext cx="3950208" cy="365760"/>
          </a:xfrm>
          <a:prstGeom prst="rect">
            <a:avLst/>
          </a:prstGeom>
          <a:noFill/>
        </p:spPr>
        <p:txBody>
          <a:bodyPr wrap="square">
            <a:spAutoFit/>
          </a:bodyPr>
          <a:lstStyle/>
          <a:p>
            <a:r>
              <a:rPr sz="1150" b="1" i="0">
                <a:solidFill>
                  <a:srgbClr val="1A2744"/>
                </a:solidFill>
                <a:latin typeface="Calibri"/>
              </a:rPr>
              <a:t>Programme Frameworks</a:t>
            </a:r>
          </a:p>
        </p:txBody>
      </p:sp>
      <p:sp>
        <p:nvSpPr>
          <p:cNvPr id="14" name="TextBox 13"/>
          <p:cNvSpPr txBox="1"/>
          <p:nvPr/>
        </p:nvSpPr>
        <p:spPr>
          <a:xfrm>
            <a:off x="384048" y="2871216"/>
            <a:ext cx="3950208" cy="219456"/>
          </a:xfrm>
          <a:prstGeom prst="rect">
            <a:avLst/>
          </a:prstGeom>
          <a:noFill/>
        </p:spPr>
        <p:txBody>
          <a:bodyPr wrap="square">
            <a:spAutoFit/>
          </a:bodyPr>
          <a:lstStyle/>
          <a:p>
            <a:r>
              <a:rPr sz="800" b="0" i="1">
                <a:solidFill>
                  <a:srgbClr val="6B7A96"/>
                </a:solidFill>
                <a:latin typeface="Calibri"/>
              </a:rPr>
              <a:t>HPD NCF Term Sheet  ·  SONYMA MIF Regulations</a:t>
            </a:r>
          </a:p>
        </p:txBody>
      </p:sp>
      <p:sp>
        <p:nvSpPr>
          <p:cNvPr id="15" name="Rectangle 14"/>
          <p:cNvSpPr/>
          <p:nvPr/>
        </p:nvSpPr>
        <p:spPr>
          <a:xfrm>
            <a:off x="384048" y="3127248"/>
            <a:ext cx="3950208" cy="27432"/>
          </a:xfrm>
          <a:prstGeom prst="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84048" y="3218688"/>
            <a:ext cx="3950208" cy="1572768"/>
          </a:xfrm>
          <a:prstGeom prst="rect">
            <a:avLst/>
          </a:prstGeom>
          <a:noFill/>
        </p:spPr>
        <p:txBody>
          <a:bodyPr wrap="square">
            <a:spAutoFit/>
          </a:bodyPr>
          <a:lstStyle/>
          <a:p>
            <a:r>
              <a:rPr sz="880" b="0" i="0">
                <a:solidFill>
                  <a:srgbClr val="2E3F5C"/>
                </a:solidFill>
                <a:latin typeface="Calibri"/>
              </a:rPr>
              <a:t>The HPD NCF programme framework specifies eligibility criteria, per-unit subsidy limits, AMI tier requirements, rent limits, developer fee schedules, and the financial performance thresholds that every NCF-financed project must satisfy.
SONYMA MIF underwriting regulations govern the mortgage insurance constraints: 80% LTV cap, minimum 1.05× I/E ratio, and a 1.5% replacement reserve requirement — all of which function as binding structural inputs to the financial model.</a:t>
            </a:r>
          </a:p>
        </p:txBody>
      </p:sp>
      <p:sp>
        <p:nvSpPr>
          <p:cNvPr id="17" name="Rectangle 16"/>
          <p:cNvSpPr/>
          <p:nvPr/>
        </p:nvSpPr>
        <p:spPr>
          <a:xfrm>
            <a:off x="4626864" y="2048256"/>
            <a:ext cx="4187952" cy="2834640"/>
          </a:xfrm>
          <a:prstGeom prst="rect">
            <a:avLst/>
          </a:prstGeom>
          <a:solidFill>
            <a:srgbClr val="FFFFFF"/>
          </a:solidFill>
          <a:ln w="9525">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626864" y="2048256"/>
            <a:ext cx="50292" cy="2834640"/>
          </a:xfrm>
          <a:prstGeom prst="rect">
            <a:avLst/>
          </a:prstGeom>
          <a:solidFill>
            <a:srgbClr val="4A7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754880" y="2176272"/>
            <a:ext cx="3950208" cy="237744"/>
          </a:xfrm>
          <a:prstGeom prst="rect">
            <a:avLst/>
          </a:prstGeom>
          <a:solidFill>
            <a:srgbClr val="F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791456" y="2194560"/>
            <a:ext cx="3913632" cy="201168"/>
          </a:xfrm>
          <a:prstGeom prst="rect">
            <a:avLst/>
          </a:prstGeom>
          <a:noFill/>
        </p:spPr>
        <p:txBody>
          <a:bodyPr wrap="none">
            <a:spAutoFit/>
          </a:bodyPr>
          <a:lstStyle/>
          <a:p>
            <a:r>
              <a:rPr sz="800" b="1" i="0">
                <a:solidFill>
                  <a:srgbClr val="2D6A4F"/>
                </a:solidFill>
                <a:latin typeface="Calibri"/>
              </a:rPr>
              <a:t>Market Research  —  Central Input</a:t>
            </a:r>
          </a:p>
        </p:txBody>
      </p:sp>
      <p:sp>
        <p:nvSpPr>
          <p:cNvPr id="21" name="TextBox 20"/>
          <p:cNvSpPr txBox="1"/>
          <p:nvPr/>
        </p:nvSpPr>
        <p:spPr>
          <a:xfrm>
            <a:off x="4754880" y="2505456"/>
            <a:ext cx="3950208" cy="365760"/>
          </a:xfrm>
          <a:prstGeom prst="rect">
            <a:avLst/>
          </a:prstGeom>
          <a:noFill/>
        </p:spPr>
        <p:txBody>
          <a:bodyPr wrap="square">
            <a:spAutoFit/>
          </a:bodyPr>
          <a:lstStyle/>
          <a:p>
            <a:r>
              <a:rPr sz="1150" b="1" i="0">
                <a:solidFill>
                  <a:srgbClr val="1A2744"/>
                </a:solidFill>
                <a:latin typeface="Calibri"/>
              </a:rPr>
              <a:t>Market Data &amp; HUD Schedules</a:t>
            </a:r>
          </a:p>
        </p:txBody>
      </p:sp>
      <p:sp>
        <p:nvSpPr>
          <p:cNvPr id="22" name="TextBox 21"/>
          <p:cNvSpPr txBox="1"/>
          <p:nvPr/>
        </p:nvSpPr>
        <p:spPr>
          <a:xfrm>
            <a:off x="4754880" y="2871216"/>
            <a:ext cx="3950208" cy="219456"/>
          </a:xfrm>
          <a:prstGeom prst="rect">
            <a:avLst/>
          </a:prstGeom>
          <a:noFill/>
        </p:spPr>
        <p:txBody>
          <a:bodyPr wrap="square">
            <a:spAutoFit/>
          </a:bodyPr>
          <a:lstStyle/>
          <a:p>
            <a:r>
              <a:rPr sz="800" b="0" i="1">
                <a:solidFill>
                  <a:srgbClr val="6B7A96"/>
                </a:solidFill>
                <a:latin typeface="Calibri"/>
              </a:rPr>
              <a:t>HUD Income &amp; Rent Limits  ·  NYC Market Data  ·  Academic Literature</a:t>
            </a:r>
          </a:p>
        </p:txBody>
      </p:sp>
      <p:sp>
        <p:nvSpPr>
          <p:cNvPr id="23" name="Rectangle 22"/>
          <p:cNvSpPr/>
          <p:nvPr/>
        </p:nvSpPr>
        <p:spPr>
          <a:xfrm>
            <a:off x="4754880" y="3127248"/>
            <a:ext cx="3950208" cy="27432"/>
          </a:xfrm>
          <a:prstGeom prst="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54880" y="3218688"/>
            <a:ext cx="3950208" cy="1572768"/>
          </a:xfrm>
          <a:prstGeom prst="rect">
            <a:avLst/>
          </a:prstGeom>
          <a:noFill/>
        </p:spPr>
        <p:txBody>
          <a:bodyPr wrap="square">
            <a:spAutoFit/>
          </a:bodyPr>
          <a:lstStyle/>
          <a:p>
            <a:r>
              <a:rPr sz="880" b="0" i="0">
                <a:solidFill>
                  <a:srgbClr val="2E3F5C"/>
                </a:solidFill>
                <a:latin typeface="Calibri"/>
              </a:rPr>
              <a:t>HUD's FY 2025 Area Median Income and rent limit schedules for the NY–NJ–Jersey City MSA determine every rent figure in the model. NYC construction cost benchmarks, operating expense comparables, and capitalisation rates are drawn directly from market research.
This makes real-world market data the critical connective input — the bridge between the regulatory framework and the actual financial projections that underpin the feasibility assessment.</a:t>
            </a:r>
          </a:p>
        </p:txBody>
      </p:sp>
      <p:sp>
        <p:nvSpPr>
          <p:cNvPr id="25" name="TextBox 24"/>
          <p:cNvSpPr txBox="1"/>
          <p:nvPr/>
        </p:nvSpPr>
        <p:spPr>
          <a:xfrm>
            <a:off x="8412480" y="4828032"/>
            <a:ext cx="548640" cy="201168"/>
          </a:xfrm>
          <a:prstGeom prst="rect">
            <a:avLst/>
          </a:prstGeom>
          <a:noFill/>
        </p:spPr>
        <p:txBody>
          <a:bodyPr wrap="square">
            <a:spAutoFit/>
          </a:bodyPr>
          <a:lstStyle/>
          <a:p>
            <a:pPr algn="r"/>
            <a:r>
              <a:rPr sz="900" b="0" i="0">
                <a:solidFill>
                  <a:srgbClr val="6B7A96"/>
                </a:solidFill>
                <a:latin typeface="Calibri"/>
              </a:rPr>
              <a:t>04</a:t>
            </a:r>
          </a:p>
        </p:txBody>
      </p:sp>
      <p:sp>
        <p:nvSpPr>
          <p:cNvPr id="26" name="TextBox 25"/>
          <p:cNvSpPr txBox="1"/>
          <p:nvPr/>
        </p:nvSpPr>
        <p:spPr>
          <a:xfrm>
            <a:off x="274320" y="4992624"/>
            <a:ext cx="8686800" cy="128016"/>
          </a:xfrm>
          <a:prstGeom prst="rect">
            <a:avLst/>
          </a:prstGeom>
          <a:noFill/>
        </p:spPr>
        <p:txBody>
          <a:bodyPr wrap="square">
            <a:spAutoFit/>
          </a:bodyPr>
          <a:lstStyle/>
          <a:p>
            <a:pPr algn="r"/>
            <a:r>
              <a:rPr sz="700" b="0" i="0">
                <a:solidFill>
                  <a:srgbClr val="6B7A96"/>
                </a:solidFill>
                <a:latin typeface="Calibri"/>
              </a:rPr>
              <a:t>Confidential / Academic Use Only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384048" y="137160"/>
            <a:ext cx="7315200" cy="475488"/>
          </a:xfrm>
          <a:prstGeom prst="rect">
            <a:avLst/>
          </a:prstGeom>
          <a:noFill/>
        </p:spPr>
        <p:txBody>
          <a:bodyPr wrap="square">
            <a:spAutoFit/>
          </a:bodyPr>
          <a:lstStyle/>
          <a:p>
            <a:r>
              <a:rPr sz="2000" b="1" i="0">
                <a:solidFill>
                  <a:srgbClr val="1A2744"/>
                </a:solidFill>
                <a:latin typeface="Calibri"/>
              </a:rPr>
              <a:t>Financial Model Structure</a:t>
            </a:r>
          </a:p>
        </p:txBody>
      </p:sp>
      <p:sp>
        <p:nvSpPr>
          <p:cNvPr id="4" name="Rectangle 3"/>
          <p:cNvSpPr/>
          <p:nvPr/>
        </p:nvSpPr>
        <p:spPr>
          <a:xfrm>
            <a:off x="384048" y="640080"/>
            <a:ext cx="8375904" cy="36576"/>
          </a:xfrm>
          <a:prstGeom prst="rect">
            <a:avLst/>
          </a:prstGeom>
          <a:solidFill>
            <a:srgbClr val="4A7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84048" y="713232"/>
            <a:ext cx="7315200" cy="219456"/>
          </a:xfrm>
          <a:prstGeom prst="rect">
            <a:avLst/>
          </a:prstGeom>
          <a:noFill/>
        </p:spPr>
        <p:txBody>
          <a:bodyPr wrap="square">
            <a:spAutoFit/>
          </a:bodyPr>
          <a:lstStyle/>
          <a:p>
            <a:r>
              <a:rPr sz="950" b="0" i="0">
                <a:solidFill>
                  <a:srgbClr val="6B7A96"/>
                </a:solidFill>
                <a:latin typeface="Calibri"/>
              </a:rPr>
              <a:t>How the Excel model flows from inputs to Net Cash Flow</a:t>
            </a:r>
          </a:p>
        </p:txBody>
      </p:sp>
      <p:sp>
        <p:nvSpPr>
          <p:cNvPr id="6" name="Rectangle 5"/>
          <p:cNvSpPr/>
          <p:nvPr/>
        </p:nvSpPr>
        <p:spPr>
          <a:xfrm>
            <a:off x="228600" y="978408"/>
            <a:ext cx="8686800" cy="841248"/>
          </a:xfrm>
          <a:prstGeom prst="rect">
            <a:avLst/>
          </a:prstGeom>
          <a:solidFill>
            <a:srgbClr val="FFFFFF"/>
          </a:solidFill>
          <a:ln w="7620">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28600" y="978408"/>
            <a:ext cx="54864" cy="841248"/>
          </a:xfrm>
          <a:prstGeom prst="rect">
            <a:avLst/>
          </a:prstGeom>
          <a:solidFill>
            <a:srgbClr val="4A7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1033272"/>
            <a:ext cx="2743200" cy="201168"/>
          </a:xfrm>
          <a:prstGeom prst="rect">
            <a:avLst/>
          </a:prstGeom>
          <a:noFill/>
        </p:spPr>
        <p:txBody>
          <a:bodyPr wrap="square">
            <a:spAutoFit/>
          </a:bodyPr>
          <a:lstStyle/>
          <a:p>
            <a:r>
              <a:rPr sz="850" b="1" i="0">
                <a:solidFill>
                  <a:srgbClr val="2D4EA2"/>
                </a:solidFill>
                <a:latin typeface="Calibri"/>
              </a:rPr>
              <a:t>Key Performance Benchmarks</a:t>
            </a:r>
          </a:p>
        </p:txBody>
      </p:sp>
      <p:sp>
        <p:nvSpPr>
          <p:cNvPr id="9" name="Rectangle 8"/>
          <p:cNvSpPr/>
          <p:nvPr/>
        </p:nvSpPr>
        <p:spPr>
          <a:xfrm>
            <a:off x="384048" y="1252728"/>
            <a:ext cx="8321040" cy="27432"/>
          </a:xfrm>
          <a:prstGeom prst="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84048" y="1289304"/>
            <a:ext cx="1609344" cy="201168"/>
          </a:xfrm>
          <a:prstGeom prst="rect">
            <a:avLst/>
          </a:prstGeom>
          <a:noFill/>
        </p:spPr>
        <p:txBody>
          <a:bodyPr wrap="square">
            <a:spAutoFit/>
          </a:bodyPr>
          <a:lstStyle/>
          <a:p>
            <a:r>
              <a:rPr sz="750" b="1" i="0">
                <a:solidFill>
                  <a:srgbClr val="6B7A96"/>
                </a:solidFill>
                <a:latin typeface="Calibri"/>
              </a:rPr>
              <a:t>Min. DSCR</a:t>
            </a:r>
          </a:p>
        </p:txBody>
      </p:sp>
      <p:sp>
        <p:nvSpPr>
          <p:cNvPr id="11" name="TextBox 10"/>
          <p:cNvSpPr txBox="1"/>
          <p:nvPr/>
        </p:nvSpPr>
        <p:spPr>
          <a:xfrm>
            <a:off x="384048" y="1508760"/>
            <a:ext cx="1609344" cy="274320"/>
          </a:xfrm>
          <a:prstGeom prst="rect">
            <a:avLst/>
          </a:prstGeom>
          <a:noFill/>
        </p:spPr>
        <p:txBody>
          <a:bodyPr wrap="square">
            <a:spAutoFit/>
          </a:bodyPr>
          <a:lstStyle/>
          <a:p>
            <a:r>
              <a:rPr sz="1100" b="1" i="0">
                <a:solidFill>
                  <a:srgbClr val="2D4EA2"/>
                </a:solidFill>
                <a:latin typeface="Calibri"/>
              </a:rPr>
              <a:t>≥ 1.15×</a:t>
            </a:r>
          </a:p>
        </p:txBody>
      </p:sp>
      <p:sp>
        <p:nvSpPr>
          <p:cNvPr id="12" name="TextBox 11"/>
          <p:cNvSpPr txBox="1"/>
          <p:nvPr/>
        </p:nvSpPr>
        <p:spPr>
          <a:xfrm>
            <a:off x="384048" y="1783080"/>
            <a:ext cx="1609344" cy="164592"/>
          </a:xfrm>
          <a:prstGeom prst="rect">
            <a:avLst/>
          </a:prstGeom>
          <a:noFill/>
        </p:spPr>
        <p:txBody>
          <a:bodyPr wrap="square">
            <a:spAutoFit/>
          </a:bodyPr>
          <a:lstStyle/>
          <a:p>
            <a:r>
              <a:rPr sz="680" b="0" i="1">
                <a:solidFill>
                  <a:srgbClr val="6B7A96"/>
                </a:solidFill>
                <a:latin typeface="Calibri"/>
              </a:rPr>
              <a:t>NCF Programme</a:t>
            </a:r>
          </a:p>
        </p:txBody>
      </p:sp>
      <p:sp>
        <p:nvSpPr>
          <p:cNvPr id="13" name="Rectangle 12"/>
          <p:cNvSpPr/>
          <p:nvPr/>
        </p:nvSpPr>
        <p:spPr>
          <a:xfrm>
            <a:off x="2011680" y="1106424"/>
            <a:ext cx="45720" cy="493776"/>
          </a:xfrm>
          <a:prstGeom prst="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075688" y="1289304"/>
            <a:ext cx="1609344" cy="201168"/>
          </a:xfrm>
          <a:prstGeom prst="rect">
            <a:avLst/>
          </a:prstGeom>
          <a:noFill/>
        </p:spPr>
        <p:txBody>
          <a:bodyPr wrap="square">
            <a:spAutoFit/>
          </a:bodyPr>
          <a:lstStyle/>
          <a:p>
            <a:r>
              <a:rPr sz="750" b="1" i="0">
                <a:solidFill>
                  <a:srgbClr val="6B7A96"/>
                </a:solidFill>
                <a:latin typeface="Calibri"/>
              </a:rPr>
              <a:t>Min. I/E Ratio</a:t>
            </a:r>
          </a:p>
        </p:txBody>
      </p:sp>
      <p:sp>
        <p:nvSpPr>
          <p:cNvPr id="15" name="TextBox 14"/>
          <p:cNvSpPr txBox="1"/>
          <p:nvPr/>
        </p:nvSpPr>
        <p:spPr>
          <a:xfrm>
            <a:off x="2075688" y="1508760"/>
            <a:ext cx="1609344" cy="274320"/>
          </a:xfrm>
          <a:prstGeom prst="rect">
            <a:avLst/>
          </a:prstGeom>
          <a:noFill/>
        </p:spPr>
        <p:txBody>
          <a:bodyPr wrap="square">
            <a:spAutoFit/>
          </a:bodyPr>
          <a:lstStyle/>
          <a:p>
            <a:r>
              <a:rPr sz="1100" b="1" i="0">
                <a:solidFill>
                  <a:srgbClr val="2D4EA2"/>
                </a:solidFill>
                <a:latin typeface="Calibri"/>
              </a:rPr>
              <a:t>≥ 1.05×</a:t>
            </a:r>
          </a:p>
        </p:txBody>
      </p:sp>
      <p:sp>
        <p:nvSpPr>
          <p:cNvPr id="16" name="TextBox 15"/>
          <p:cNvSpPr txBox="1"/>
          <p:nvPr/>
        </p:nvSpPr>
        <p:spPr>
          <a:xfrm>
            <a:off x="2075688" y="1783080"/>
            <a:ext cx="1609344" cy="164592"/>
          </a:xfrm>
          <a:prstGeom prst="rect">
            <a:avLst/>
          </a:prstGeom>
          <a:noFill/>
        </p:spPr>
        <p:txBody>
          <a:bodyPr wrap="square">
            <a:spAutoFit/>
          </a:bodyPr>
          <a:lstStyle/>
          <a:p>
            <a:r>
              <a:rPr sz="680" b="0" i="1">
                <a:solidFill>
                  <a:srgbClr val="6B7A96"/>
                </a:solidFill>
                <a:latin typeface="Calibri"/>
              </a:rPr>
              <a:t>SONYMA MIF</a:t>
            </a:r>
          </a:p>
        </p:txBody>
      </p:sp>
      <p:sp>
        <p:nvSpPr>
          <p:cNvPr id="17" name="Rectangle 16"/>
          <p:cNvSpPr/>
          <p:nvPr/>
        </p:nvSpPr>
        <p:spPr>
          <a:xfrm>
            <a:off x="3703320" y="1106424"/>
            <a:ext cx="45720" cy="493776"/>
          </a:xfrm>
          <a:prstGeom prst="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67328" y="1289304"/>
            <a:ext cx="1609344" cy="201168"/>
          </a:xfrm>
          <a:prstGeom prst="rect">
            <a:avLst/>
          </a:prstGeom>
          <a:noFill/>
        </p:spPr>
        <p:txBody>
          <a:bodyPr wrap="square">
            <a:spAutoFit/>
          </a:bodyPr>
          <a:lstStyle/>
          <a:p>
            <a:r>
              <a:rPr sz="750" b="1" i="0">
                <a:solidFill>
                  <a:srgbClr val="6B7A96"/>
                </a:solidFill>
                <a:latin typeface="Calibri"/>
              </a:rPr>
              <a:t>LTV Cap</a:t>
            </a:r>
          </a:p>
        </p:txBody>
      </p:sp>
      <p:sp>
        <p:nvSpPr>
          <p:cNvPr id="19" name="TextBox 18"/>
          <p:cNvSpPr txBox="1"/>
          <p:nvPr/>
        </p:nvSpPr>
        <p:spPr>
          <a:xfrm>
            <a:off x="3767328" y="1508760"/>
            <a:ext cx="1609344" cy="274320"/>
          </a:xfrm>
          <a:prstGeom prst="rect">
            <a:avLst/>
          </a:prstGeom>
          <a:noFill/>
        </p:spPr>
        <p:txBody>
          <a:bodyPr wrap="square">
            <a:spAutoFit/>
          </a:bodyPr>
          <a:lstStyle/>
          <a:p>
            <a:r>
              <a:rPr sz="1100" b="1" i="0">
                <a:solidFill>
                  <a:srgbClr val="2D4EA2"/>
                </a:solidFill>
                <a:latin typeface="Calibri"/>
              </a:rPr>
              <a:t>≤ 80%</a:t>
            </a:r>
          </a:p>
        </p:txBody>
      </p:sp>
      <p:sp>
        <p:nvSpPr>
          <p:cNvPr id="20" name="TextBox 19"/>
          <p:cNvSpPr txBox="1"/>
          <p:nvPr/>
        </p:nvSpPr>
        <p:spPr>
          <a:xfrm>
            <a:off x="3767328" y="1783080"/>
            <a:ext cx="1609344" cy="164592"/>
          </a:xfrm>
          <a:prstGeom prst="rect">
            <a:avLst/>
          </a:prstGeom>
          <a:noFill/>
        </p:spPr>
        <p:txBody>
          <a:bodyPr wrap="square">
            <a:spAutoFit/>
          </a:bodyPr>
          <a:lstStyle/>
          <a:p>
            <a:r>
              <a:rPr sz="680" b="0" i="1">
                <a:solidFill>
                  <a:srgbClr val="6B7A96"/>
                </a:solidFill>
                <a:latin typeface="Calibri"/>
              </a:rPr>
              <a:t>SONYMA MIF</a:t>
            </a:r>
          </a:p>
        </p:txBody>
      </p:sp>
      <p:sp>
        <p:nvSpPr>
          <p:cNvPr id="21" name="Rectangle 20"/>
          <p:cNvSpPr/>
          <p:nvPr/>
        </p:nvSpPr>
        <p:spPr>
          <a:xfrm>
            <a:off x="5394959" y="1106424"/>
            <a:ext cx="45720" cy="493776"/>
          </a:xfrm>
          <a:prstGeom prst="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58968" y="1289304"/>
            <a:ext cx="1609344" cy="201168"/>
          </a:xfrm>
          <a:prstGeom prst="rect">
            <a:avLst/>
          </a:prstGeom>
          <a:noFill/>
        </p:spPr>
        <p:txBody>
          <a:bodyPr wrap="square">
            <a:spAutoFit/>
          </a:bodyPr>
          <a:lstStyle/>
          <a:p>
            <a:r>
              <a:rPr sz="750" b="1" i="0">
                <a:solidFill>
                  <a:srgbClr val="6B7A96"/>
                </a:solidFill>
                <a:latin typeface="Calibri"/>
              </a:rPr>
              <a:t>Replacement Reserve</a:t>
            </a:r>
          </a:p>
        </p:txBody>
      </p:sp>
      <p:sp>
        <p:nvSpPr>
          <p:cNvPr id="23" name="TextBox 22"/>
          <p:cNvSpPr txBox="1"/>
          <p:nvPr/>
        </p:nvSpPr>
        <p:spPr>
          <a:xfrm>
            <a:off x="5458968" y="1508760"/>
            <a:ext cx="1609344" cy="274320"/>
          </a:xfrm>
          <a:prstGeom prst="rect">
            <a:avLst/>
          </a:prstGeom>
          <a:noFill/>
        </p:spPr>
        <p:txBody>
          <a:bodyPr wrap="square">
            <a:spAutoFit/>
          </a:bodyPr>
          <a:lstStyle/>
          <a:p>
            <a:r>
              <a:rPr sz="1100" b="1" i="0">
                <a:solidFill>
                  <a:srgbClr val="2D4EA2"/>
                </a:solidFill>
                <a:latin typeface="Calibri"/>
              </a:rPr>
              <a:t>≥ 1.5% of TDC</a:t>
            </a:r>
          </a:p>
        </p:txBody>
      </p:sp>
      <p:sp>
        <p:nvSpPr>
          <p:cNvPr id="24" name="TextBox 23"/>
          <p:cNvSpPr txBox="1"/>
          <p:nvPr/>
        </p:nvSpPr>
        <p:spPr>
          <a:xfrm>
            <a:off x="5458968" y="1783080"/>
            <a:ext cx="1609344" cy="164592"/>
          </a:xfrm>
          <a:prstGeom prst="rect">
            <a:avLst/>
          </a:prstGeom>
          <a:noFill/>
        </p:spPr>
        <p:txBody>
          <a:bodyPr wrap="square">
            <a:spAutoFit/>
          </a:bodyPr>
          <a:lstStyle/>
          <a:p>
            <a:r>
              <a:rPr sz="680" b="0" i="1">
                <a:solidFill>
                  <a:srgbClr val="6B7A96"/>
                </a:solidFill>
                <a:latin typeface="Calibri"/>
              </a:rPr>
              <a:t>Capitalised from sources</a:t>
            </a:r>
          </a:p>
        </p:txBody>
      </p:sp>
      <p:sp>
        <p:nvSpPr>
          <p:cNvPr id="25" name="Rectangle 24"/>
          <p:cNvSpPr/>
          <p:nvPr/>
        </p:nvSpPr>
        <p:spPr>
          <a:xfrm>
            <a:off x="7086600" y="1106424"/>
            <a:ext cx="45720" cy="493776"/>
          </a:xfrm>
          <a:prstGeom prst="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150608" y="1289304"/>
            <a:ext cx="1609344" cy="201168"/>
          </a:xfrm>
          <a:prstGeom prst="rect">
            <a:avLst/>
          </a:prstGeom>
          <a:noFill/>
        </p:spPr>
        <p:txBody>
          <a:bodyPr wrap="square">
            <a:spAutoFit/>
          </a:bodyPr>
          <a:lstStyle/>
          <a:p>
            <a:r>
              <a:rPr sz="750" b="1" i="0">
                <a:solidFill>
                  <a:srgbClr val="6B7A96"/>
                </a:solidFill>
                <a:latin typeface="Calibri"/>
              </a:rPr>
              <a:t>DSCR  Year 1</a:t>
            </a:r>
          </a:p>
        </p:txBody>
      </p:sp>
      <p:sp>
        <p:nvSpPr>
          <p:cNvPr id="27" name="TextBox 26"/>
          <p:cNvSpPr txBox="1"/>
          <p:nvPr/>
        </p:nvSpPr>
        <p:spPr>
          <a:xfrm>
            <a:off x="7150608" y="1508760"/>
            <a:ext cx="1609344" cy="274320"/>
          </a:xfrm>
          <a:prstGeom prst="rect">
            <a:avLst/>
          </a:prstGeom>
          <a:noFill/>
        </p:spPr>
        <p:txBody>
          <a:bodyPr wrap="square">
            <a:spAutoFit/>
          </a:bodyPr>
          <a:lstStyle/>
          <a:p>
            <a:r>
              <a:rPr sz="1100" b="1" i="0">
                <a:solidFill>
                  <a:srgbClr val="2D7A4F"/>
                </a:solidFill>
                <a:latin typeface="Calibri"/>
              </a:rPr>
              <a:t>1.38×  ✓</a:t>
            </a:r>
          </a:p>
        </p:txBody>
      </p:sp>
      <p:sp>
        <p:nvSpPr>
          <p:cNvPr id="28" name="TextBox 27"/>
          <p:cNvSpPr txBox="1"/>
          <p:nvPr/>
        </p:nvSpPr>
        <p:spPr>
          <a:xfrm>
            <a:off x="7150608" y="1783080"/>
            <a:ext cx="1609344" cy="164592"/>
          </a:xfrm>
          <a:prstGeom prst="rect">
            <a:avLst/>
          </a:prstGeom>
          <a:noFill/>
        </p:spPr>
        <p:txBody>
          <a:bodyPr wrap="square">
            <a:spAutoFit/>
          </a:bodyPr>
          <a:lstStyle/>
          <a:p>
            <a:r>
              <a:rPr sz="680" b="0" i="1">
                <a:solidFill>
                  <a:srgbClr val="6B7A96"/>
                </a:solidFill>
                <a:latin typeface="Calibri"/>
              </a:rPr>
              <a:t>Model output (exceeds threshold)</a:t>
            </a:r>
          </a:p>
        </p:txBody>
      </p:sp>
      <p:sp>
        <p:nvSpPr>
          <p:cNvPr id="29" name="Rectangle 28"/>
          <p:cNvSpPr/>
          <p:nvPr/>
        </p:nvSpPr>
        <p:spPr>
          <a:xfrm>
            <a:off x="228600" y="1993392"/>
            <a:ext cx="1481328" cy="1115568"/>
          </a:xfrm>
          <a:prstGeom prst="rect">
            <a:avLst/>
          </a:prstGeom>
          <a:solidFill>
            <a:srgbClr val="EBF2FB"/>
          </a:solidFill>
          <a:ln w="10160">
            <a:solidFill>
              <a:srgbClr val="A8C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28600" y="1993392"/>
            <a:ext cx="1481328" cy="50292"/>
          </a:xfrm>
          <a:prstGeom prst="rect">
            <a:avLst/>
          </a:prstGeom>
          <a:solidFill>
            <a:srgbClr val="4A7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20040" y="2084832"/>
            <a:ext cx="1316736" cy="420624"/>
          </a:xfrm>
          <a:prstGeom prst="rect">
            <a:avLst/>
          </a:prstGeom>
          <a:noFill/>
        </p:spPr>
        <p:txBody>
          <a:bodyPr wrap="square">
            <a:spAutoFit/>
          </a:bodyPr>
          <a:lstStyle/>
          <a:p>
            <a:r>
              <a:rPr sz="900" b="1" i="0">
                <a:solidFill>
                  <a:srgbClr val="1A2744"/>
                </a:solidFill>
                <a:latin typeface="Calibri"/>
              </a:rPr>
              <a:t>Project
Assumptions</a:t>
            </a:r>
          </a:p>
        </p:txBody>
      </p:sp>
      <p:sp>
        <p:nvSpPr>
          <p:cNvPr id="32" name="Rectangle 31"/>
          <p:cNvSpPr/>
          <p:nvPr/>
        </p:nvSpPr>
        <p:spPr>
          <a:xfrm>
            <a:off x="320040" y="2542032"/>
            <a:ext cx="1298448" cy="27432"/>
          </a:xfrm>
          <a:prstGeom prst="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20040" y="2615184"/>
            <a:ext cx="1316736" cy="365760"/>
          </a:xfrm>
          <a:prstGeom prst="rect">
            <a:avLst/>
          </a:prstGeom>
          <a:noFill/>
        </p:spPr>
        <p:txBody>
          <a:bodyPr wrap="square">
            <a:spAutoFit/>
          </a:bodyPr>
          <a:lstStyle/>
          <a:p>
            <a:r>
              <a:rPr sz="800" b="0" i="0">
                <a:solidFill>
                  <a:srgbClr val="2E3F5C"/>
                </a:solidFill>
                <a:latin typeface="Calibri"/>
              </a:rPr>
              <a:t>Timeline, AMI tiers,
vacancy, growth rates</a:t>
            </a:r>
          </a:p>
        </p:txBody>
      </p:sp>
      <p:sp>
        <p:nvSpPr>
          <p:cNvPr id="34" name="TextBox 33"/>
          <p:cNvSpPr txBox="1"/>
          <p:nvPr/>
        </p:nvSpPr>
        <p:spPr>
          <a:xfrm>
            <a:off x="1719072" y="2386584"/>
            <a:ext cx="164592" cy="329184"/>
          </a:xfrm>
          <a:prstGeom prst="rect">
            <a:avLst/>
          </a:prstGeom>
          <a:noFill/>
        </p:spPr>
        <p:txBody>
          <a:bodyPr wrap="none">
            <a:spAutoFit/>
          </a:bodyPr>
          <a:lstStyle/>
          <a:p>
            <a:pPr algn="ctr"/>
            <a:r>
              <a:rPr sz="1400" b="1" i="0">
                <a:solidFill>
                  <a:srgbClr val="4A7EC0"/>
                </a:solidFill>
                <a:latin typeface="Calibri"/>
              </a:rPr>
              <a:t>→</a:t>
            </a:r>
          </a:p>
        </p:txBody>
      </p:sp>
      <p:sp>
        <p:nvSpPr>
          <p:cNvPr id="35" name="Rectangle 34"/>
          <p:cNvSpPr/>
          <p:nvPr/>
        </p:nvSpPr>
        <p:spPr>
          <a:xfrm>
            <a:off x="1874519" y="1993392"/>
            <a:ext cx="1481328" cy="1115568"/>
          </a:xfrm>
          <a:prstGeom prst="rect">
            <a:avLst/>
          </a:prstGeom>
          <a:solidFill>
            <a:srgbClr val="EBF2FB"/>
          </a:solidFill>
          <a:ln w="10160">
            <a:solidFill>
              <a:srgbClr val="A8C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1874519" y="1993392"/>
            <a:ext cx="1481328" cy="50292"/>
          </a:xfrm>
          <a:prstGeom prst="rect">
            <a:avLst/>
          </a:prstGeom>
          <a:solidFill>
            <a:srgbClr val="4A7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965960" y="2084832"/>
            <a:ext cx="1316736" cy="420624"/>
          </a:xfrm>
          <a:prstGeom prst="rect">
            <a:avLst/>
          </a:prstGeom>
          <a:noFill/>
        </p:spPr>
        <p:txBody>
          <a:bodyPr wrap="square">
            <a:spAutoFit/>
          </a:bodyPr>
          <a:lstStyle/>
          <a:p>
            <a:r>
              <a:rPr sz="900" b="1" i="0">
                <a:solidFill>
                  <a:srgbClr val="1A2744"/>
                </a:solidFill>
                <a:latin typeface="Calibri"/>
              </a:rPr>
              <a:t>Unit Mix
&amp; Rents</a:t>
            </a:r>
          </a:p>
        </p:txBody>
      </p:sp>
      <p:sp>
        <p:nvSpPr>
          <p:cNvPr id="38" name="Rectangle 37"/>
          <p:cNvSpPr/>
          <p:nvPr/>
        </p:nvSpPr>
        <p:spPr>
          <a:xfrm>
            <a:off x="1965960" y="2542032"/>
            <a:ext cx="1298448" cy="27432"/>
          </a:xfrm>
          <a:prstGeom prst="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965960" y="2615184"/>
            <a:ext cx="1316736" cy="365760"/>
          </a:xfrm>
          <a:prstGeom prst="rect">
            <a:avLst/>
          </a:prstGeom>
          <a:noFill/>
        </p:spPr>
        <p:txBody>
          <a:bodyPr wrap="square">
            <a:spAutoFit/>
          </a:bodyPr>
          <a:lstStyle/>
          <a:p>
            <a:r>
              <a:rPr sz="800" b="0" i="0">
                <a:solidFill>
                  <a:srgbClr val="2E3F5C"/>
                </a:solidFill>
                <a:latin typeface="Calibri"/>
              </a:rPr>
              <a:t>329 units · HUD limits
30%–80% AMI tiers</a:t>
            </a:r>
          </a:p>
        </p:txBody>
      </p:sp>
      <p:sp>
        <p:nvSpPr>
          <p:cNvPr id="40" name="TextBox 39"/>
          <p:cNvSpPr txBox="1"/>
          <p:nvPr/>
        </p:nvSpPr>
        <p:spPr>
          <a:xfrm>
            <a:off x="3364991" y="2386584"/>
            <a:ext cx="164592" cy="329184"/>
          </a:xfrm>
          <a:prstGeom prst="rect">
            <a:avLst/>
          </a:prstGeom>
          <a:noFill/>
        </p:spPr>
        <p:txBody>
          <a:bodyPr wrap="none">
            <a:spAutoFit/>
          </a:bodyPr>
          <a:lstStyle/>
          <a:p>
            <a:pPr algn="ctr"/>
            <a:r>
              <a:rPr sz="1400" b="1" i="0">
                <a:solidFill>
                  <a:srgbClr val="4A7EC0"/>
                </a:solidFill>
                <a:latin typeface="Calibri"/>
              </a:rPr>
              <a:t>→</a:t>
            </a:r>
          </a:p>
        </p:txBody>
      </p:sp>
      <p:sp>
        <p:nvSpPr>
          <p:cNvPr id="41" name="Rectangle 40"/>
          <p:cNvSpPr/>
          <p:nvPr/>
        </p:nvSpPr>
        <p:spPr>
          <a:xfrm>
            <a:off x="3520440" y="1993392"/>
            <a:ext cx="1481328" cy="1115568"/>
          </a:xfrm>
          <a:prstGeom prst="rect">
            <a:avLst/>
          </a:prstGeom>
          <a:solidFill>
            <a:srgbClr val="EBF2FB"/>
          </a:solidFill>
          <a:ln w="10160">
            <a:solidFill>
              <a:srgbClr val="A8C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3520440" y="1993392"/>
            <a:ext cx="1481328" cy="50292"/>
          </a:xfrm>
          <a:prstGeom prst="rect">
            <a:avLst/>
          </a:prstGeom>
          <a:solidFill>
            <a:srgbClr val="4A7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611880" y="2084832"/>
            <a:ext cx="1316736" cy="420624"/>
          </a:xfrm>
          <a:prstGeom prst="rect">
            <a:avLst/>
          </a:prstGeom>
          <a:noFill/>
        </p:spPr>
        <p:txBody>
          <a:bodyPr wrap="square">
            <a:spAutoFit/>
          </a:bodyPr>
          <a:lstStyle/>
          <a:p>
            <a:r>
              <a:rPr sz="900" b="1" i="0">
                <a:solidFill>
                  <a:srgbClr val="1A2744"/>
                </a:solidFill>
                <a:latin typeface="Calibri"/>
              </a:rPr>
              <a:t>Sources
&amp; Uses</a:t>
            </a:r>
          </a:p>
        </p:txBody>
      </p:sp>
      <p:sp>
        <p:nvSpPr>
          <p:cNvPr id="44" name="Rectangle 43"/>
          <p:cNvSpPr/>
          <p:nvPr/>
        </p:nvSpPr>
        <p:spPr>
          <a:xfrm>
            <a:off x="3611880" y="2542032"/>
            <a:ext cx="1298448" cy="27432"/>
          </a:xfrm>
          <a:prstGeom prst="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611880" y="2615184"/>
            <a:ext cx="1316736" cy="365760"/>
          </a:xfrm>
          <a:prstGeom prst="rect">
            <a:avLst/>
          </a:prstGeom>
          <a:noFill/>
        </p:spPr>
        <p:txBody>
          <a:bodyPr wrap="square">
            <a:spAutoFit/>
          </a:bodyPr>
          <a:lstStyle/>
          <a:p>
            <a:r>
              <a:rPr sz="800" b="0" i="0">
                <a:solidFill>
                  <a:srgbClr val="2E3F5C"/>
                </a:solidFill>
                <a:latin typeface="Calibri"/>
              </a:rPr>
              <a:t>TDC $248.7M · LIHTC
HFA Mortgage · NCF</a:t>
            </a:r>
          </a:p>
        </p:txBody>
      </p:sp>
      <p:sp>
        <p:nvSpPr>
          <p:cNvPr id="46" name="TextBox 45"/>
          <p:cNvSpPr txBox="1"/>
          <p:nvPr/>
        </p:nvSpPr>
        <p:spPr>
          <a:xfrm>
            <a:off x="5010912" y="2386584"/>
            <a:ext cx="164592" cy="329184"/>
          </a:xfrm>
          <a:prstGeom prst="rect">
            <a:avLst/>
          </a:prstGeom>
          <a:noFill/>
        </p:spPr>
        <p:txBody>
          <a:bodyPr wrap="none">
            <a:spAutoFit/>
          </a:bodyPr>
          <a:lstStyle/>
          <a:p>
            <a:pPr algn="ctr"/>
            <a:r>
              <a:rPr sz="1400" b="1" i="0">
                <a:solidFill>
                  <a:srgbClr val="4A7EC0"/>
                </a:solidFill>
                <a:latin typeface="Calibri"/>
              </a:rPr>
              <a:t>→</a:t>
            </a:r>
          </a:p>
        </p:txBody>
      </p:sp>
      <p:sp>
        <p:nvSpPr>
          <p:cNvPr id="47" name="Rectangle 46"/>
          <p:cNvSpPr/>
          <p:nvPr/>
        </p:nvSpPr>
        <p:spPr>
          <a:xfrm>
            <a:off x="5166360" y="1993392"/>
            <a:ext cx="1481328" cy="1115568"/>
          </a:xfrm>
          <a:prstGeom prst="rect">
            <a:avLst/>
          </a:prstGeom>
          <a:solidFill>
            <a:srgbClr val="EBF2FB"/>
          </a:solidFill>
          <a:ln w="10160">
            <a:solidFill>
              <a:srgbClr val="A8C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5166360" y="1993392"/>
            <a:ext cx="1481328" cy="50292"/>
          </a:xfrm>
          <a:prstGeom prst="rect">
            <a:avLst/>
          </a:prstGeom>
          <a:solidFill>
            <a:srgbClr val="4A7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257800" y="2084832"/>
            <a:ext cx="1316736" cy="420624"/>
          </a:xfrm>
          <a:prstGeom prst="rect">
            <a:avLst/>
          </a:prstGeom>
          <a:noFill/>
        </p:spPr>
        <p:txBody>
          <a:bodyPr wrap="square">
            <a:spAutoFit/>
          </a:bodyPr>
          <a:lstStyle/>
          <a:p>
            <a:r>
              <a:rPr sz="900" b="1" i="0">
                <a:solidFill>
                  <a:srgbClr val="1A2744"/>
                </a:solidFill>
                <a:latin typeface="Calibri"/>
              </a:rPr>
              <a:t>Gross Income
(EGI)</a:t>
            </a:r>
          </a:p>
        </p:txBody>
      </p:sp>
      <p:sp>
        <p:nvSpPr>
          <p:cNvPr id="50" name="Rectangle 49"/>
          <p:cNvSpPr/>
          <p:nvPr/>
        </p:nvSpPr>
        <p:spPr>
          <a:xfrm>
            <a:off x="5257800" y="2542032"/>
            <a:ext cx="1298448" cy="27432"/>
          </a:xfrm>
          <a:prstGeom prst="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257800" y="2615184"/>
            <a:ext cx="1316736" cy="365760"/>
          </a:xfrm>
          <a:prstGeom prst="rect">
            <a:avLst/>
          </a:prstGeom>
          <a:noFill/>
        </p:spPr>
        <p:txBody>
          <a:bodyPr wrap="square">
            <a:spAutoFit/>
          </a:bodyPr>
          <a:lstStyle/>
          <a:p>
            <a:r>
              <a:rPr sz="800" b="0" i="0">
                <a:solidFill>
                  <a:srgbClr val="2E3F5C"/>
                </a:solidFill>
                <a:latin typeface="Calibri"/>
              </a:rPr>
              <a:t>Potential income less
5% vacancy deduction</a:t>
            </a:r>
          </a:p>
        </p:txBody>
      </p:sp>
      <p:sp>
        <p:nvSpPr>
          <p:cNvPr id="52" name="TextBox 51"/>
          <p:cNvSpPr txBox="1"/>
          <p:nvPr/>
        </p:nvSpPr>
        <p:spPr>
          <a:xfrm>
            <a:off x="6656832" y="2386584"/>
            <a:ext cx="164592" cy="329184"/>
          </a:xfrm>
          <a:prstGeom prst="rect">
            <a:avLst/>
          </a:prstGeom>
          <a:noFill/>
        </p:spPr>
        <p:txBody>
          <a:bodyPr wrap="none">
            <a:spAutoFit/>
          </a:bodyPr>
          <a:lstStyle/>
          <a:p>
            <a:pPr algn="ctr"/>
            <a:r>
              <a:rPr sz="1400" b="1" i="0">
                <a:solidFill>
                  <a:srgbClr val="4A7EC0"/>
                </a:solidFill>
                <a:latin typeface="Calibri"/>
              </a:rPr>
              <a:t>→</a:t>
            </a:r>
          </a:p>
        </p:txBody>
      </p:sp>
      <p:sp>
        <p:nvSpPr>
          <p:cNvPr id="53" name="Rectangle 52"/>
          <p:cNvSpPr/>
          <p:nvPr/>
        </p:nvSpPr>
        <p:spPr>
          <a:xfrm>
            <a:off x="6812280" y="1993392"/>
            <a:ext cx="1481328" cy="1115568"/>
          </a:xfrm>
          <a:prstGeom prst="rect">
            <a:avLst/>
          </a:prstGeom>
          <a:solidFill>
            <a:srgbClr val="EBF2FB"/>
          </a:solidFill>
          <a:ln w="10160">
            <a:solidFill>
              <a:srgbClr val="A8C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6812280" y="1993392"/>
            <a:ext cx="1481328" cy="50292"/>
          </a:xfrm>
          <a:prstGeom prst="rect">
            <a:avLst/>
          </a:prstGeom>
          <a:solidFill>
            <a:srgbClr val="4A7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903720" y="2084832"/>
            <a:ext cx="1316736" cy="420624"/>
          </a:xfrm>
          <a:prstGeom prst="rect">
            <a:avLst/>
          </a:prstGeom>
          <a:noFill/>
        </p:spPr>
        <p:txBody>
          <a:bodyPr wrap="square">
            <a:spAutoFit/>
          </a:bodyPr>
          <a:lstStyle/>
          <a:p>
            <a:r>
              <a:rPr sz="900" b="1" i="0">
                <a:solidFill>
                  <a:srgbClr val="1A2744"/>
                </a:solidFill>
                <a:latin typeface="Calibri"/>
              </a:rPr>
              <a:t>Operating
Expenses</a:t>
            </a:r>
          </a:p>
        </p:txBody>
      </p:sp>
      <p:sp>
        <p:nvSpPr>
          <p:cNvPr id="56" name="Rectangle 55"/>
          <p:cNvSpPr/>
          <p:nvPr/>
        </p:nvSpPr>
        <p:spPr>
          <a:xfrm>
            <a:off x="6903720" y="2542032"/>
            <a:ext cx="1298448" cy="27432"/>
          </a:xfrm>
          <a:prstGeom prst="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903720" y="2615184"/>
            <a:ext cx="1316736" cy="365760"/>
          </a:xfrm>
          <a:prstGeom prst="rect">
            <a:avLst/>
          </a:prstGeom>
          <a:noFill/>
        </p:spPr>
        <p:txBody>
          <a:bodyPr wrap="square">
            <a:spAutoFit/>
          </a:bodyPr>
          <a:lstStyle/>
          <a:p>
            <a:r>
              <a:rPr sz="800" b="0" i="0">
                <a:solidFill>
                  <a:srgbClr val="2E3F5C"/>
                </a:solidFill>
                <a:latin typeface="Calibri"/>
              </a:rPr>
              <a:t>Mgmt, utilities, R&amp;M
1.5% replacement reserve</a:t>
            </a:r>
          </a:p>
        </p:txBody>
      </p:sp>
      <p:sp>
        <p:nvSpPr>
          <p:cNvPr id="58" name="Rectangle 57"/>
          <p:cNvSpPr/>
          <p:nvPr/>
        </p:nvSpPr>
        <p:spPr>
          <a:xfrm>
            <a:off x="877824" y="3154680"/>
            <a:ext cx="228600"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32104" y="3145536"/>
            <a:ext cx="320040" cy="201168"/>
          </a:xfrm>
          <a:prstGeom prst="rect">
            <a:avLst/>
          </a:prstGeom>
          <a:noFill/>
        </p:spPr>
        <p:txBody>
          <a:bodyPr wrap="none">
            <a:spAutoFit/>
          </a:bodyPr>
          <a:lstStyle/>
          <a:p>
            <a:pPr algn="ctr"/>
            <a:r>
              <a:rPr sz="1400" b="1" i="0">
                <a:solidFill>
                  <a:srgbClr val="4A7EC0"/>
                </a:solidFill>
                <a:latin typeface="Calibri"/>
              </a:rPr>
              <a:t>↓</a:t>
            </a:r>
          </a:p>
        </p:txBody>
      </p:sp>
      <p:sp>
        <p:nvSpPr>
          <p:cNvPr id="60" name="Rectangle 59"/>
          <p:cNvSpPr/>
          <p:nvPr/>
        </p:nvSpPr>
        <p:spPr>
          <a:xfrm>
            <a:off x="228600" y="3355848"/>
            <a:ext cx="1828800" cy="1115568"/>
          </a:xfrm>
          <a:prstGeom prst="rect">
            <a:avLst/>
          </a:prstGeom>
          <a:solidFill>
            <a:srgbClr val="EBF2FB"/>
          </a:solidFill>
          <a:ln w="10160">
            <a:solidFill>
              <a:srgbClr val="A8C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228600" y="3355848"/>
            <a:ext cx="1828800" cy="50292"/>
          </a:xfrm>
          <a:prstGeom prst="rect">
            <a:avLst/>
          </a:prstGeom>
          <a:solidFill>
            <a:srgbClr val="4A7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338328" y="3447288"/>
            <a:ext cx="1627632" cy="420624"/>
          </a:xfrm>
          <a:prstGeom prst="rect">
            <a:avLst/>
          </a:prstGeom>
          <a:noFill/>
        </p:spPr>
        <p:txBody>
          <a:bodyPr wrap="square">
            <a:spAutoFit/>
          </a:bodyPr>
          <a:lstStyle/>
          <a:p>
            <a:r>
              <a:rPr sz="900" b="1" i="0">
                <a:solidFill>
                  <a:srgbClr val="1A2744"/>
                </a:solidFill>
                <a:latin typeface="Calibri"/>
              </a:rPr>
              <a:t>Net Operating
Income (NOI)</a:t>
            </a:r>
          </a:p>
        </p:txBody>
      </p:sp>
      <p:sp>
        <p:nvSpPr>
          <p:cNvPr id="63" name="Rectangle 62"/>
          <p:cNvSpPr/>
          <p:nvPr/>
        </p:nvSpPr>
        <p:spPr>
          <a:xfrm>
            <a:off x="338328" y="3904488"/>
            <a:ext cx="1609344" cy="27432"/>
          </a:xfrm>
          <a:prstGeom prst="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338328" y="3977640"/>
            <a:ext cx="1627632" cy="365760"/>
          </a:xfrm>
          <a:prstGeom prst="rect">
            <a:avLst/>
          </a:prstGeom>
          <a:noFill/>
        </p:spPr>
        <p:txBody>
          <a:bodyPr wrap="square">
            <a:spAutoFit/>
          </a:bodyPr>
          <a:lstStyle/>
          <a:p>
            <a:r>
              <a:rPr sz="800" b="0" i="0">
                <a:solidFill>
                  <a:srgbClr val="2E3F5C"/>
                </a:solidFill>
                <a:latin typeface="Calibri"/>
              </a:rPr>
              <a:t>EGI minus all operating
costs &amp; reserves</a:t>
            </a:r>
          </a:p>
        </p:txBody>
      </p:sp>
      <p:sp>
        <p:nvSpPr>
          <p:cNvPr id="65" name="TextBox 64"/>
          <p:cNvSpPr txBox="1"/>
          <p:nvPr/>
        </p:nvSpPr>
        <p:spPr>
          <a:xfrm>
            <a:off x="2066543" y="3749040"/>
            <a:ext cx="201168" cy="329184"/>
          </a:xfrm>
          <a:prstGeom prst="rect">
            <a:avLst/>
          </a:prstGeom>
          <a:noFill/>
        </p:spPr>
        <p:txBody>
          <a:bodyPr wrap="none">
            <a:spAutoFit/>
          </a:bodyPr>
          <a:lstStyle/>
          <a:p>
            <a:pPr algn="ctr"/>
            <a:r>
              <a:rPr sz="1400" b="1" i="0">
                <a:solidFill>
                  <a:srgbClr val="4A7EC0"/>
                </a:solidFill>
                <a:latin typeface="Calibri"/>
              </a:rPr>
              <a:t>→</a:t>
            </a:r>
          </a:p>
        </p:txBody>
      </p:sp>
      <p:sp>
        <p:nvSpPr>
          <p:cNvPr id="66" name="Rectangle 65"/>
          <p:cNvSpPr/>
          <p:nvPr/>
        </p:nvSpPr>
        <p:spPr>
          <a:xfrm>
            <a:off x="2258568" y="3355848"/>
            <a:ext cx="1828800" cy="1115568"/>
          </a:xfrm>
          <a:prstGeom prst="rect">
            <a:avLst/>
          </a:prstGeom>
          <a:solidFill>
            <a:srgbClr val="EBF2FB"/>
          </a:solidFill>
          <a:ln w="10160">
            <a:solidFill>
              <a:srgbClr val="A8C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2258568" y="3355848"/>
            <a:ext cx="1828800" cy="50292"/>
          </a:xfrm>
          <a:prstGeom prst="rect">
            <a:avLst/>
          </a:prstGeom>
          <a:solidFill>
            <a:srgbClr val="4A7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368296" y="3447288"/>
            <a:ext cx="1627632" cy="420624"/>
          </a:xfrm>
          <a:prstGeom prst="rect">
            <a:avLst/>
          </a:prstGeom>
          <a:noFill/>
        </p:spPr>
        <p:txBody>
          <a:bodyPr wrap="square">
            <a:spAutoFit/>
          </a:bodyPr>
          <a:lstStyle/>
          <a:p>
            <a:r>
              <a:rPr sz="900" b="1" i="0">
                <a:solidFill>
                  <a:srgbClr val="1A2744"/>
                </a:solidFill>
                <a:latin typeface="Calibri"/>
              </a:rPr>
              <a:t>Debt
Schedule</a:t>
            </a:r>
          </a:p>
        </p:txBody>
      </p:sp>
      <p:sp>
        <p:nvSpPr>
          <p:cNvPr id="69" name="Rectangle 68"/>
          <p:cNvSpPr/>
          <p:nvPr/>
        </p:nvSpPr>
        <p:spPr>
          <a:xfrm>
            <a:off x="2368296" y="3904488"/>
            <a:ext cx="1609344" cy="27432"/>
          </a:xfrm>
          <a:prstGeom prst="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2368296" y="3977640"/>
            <a:ext cx="1627632" cy="365760"/>
          </a:xfrm>
          <a:prstGeom prst="rect">
            <a:avLst/>
          </a:prstGeom>
          <a:noFill/>
        </p:spPr>
        <p:txBody>
          <a:bodyPr wrap="square">
            <a:spAutoFit/>
          </a:bodyPr>
          <a:lstStyle/>
          <a:p>
            <a:r>
              <a:rPr sz="800" b="0" i="0">
                <a:solidFill>
                  <a:srgbClr val="2E3F5C"/>
                </a:solidFill>
                <a:latin typeface="Calibri"/>
              </a:rPr>
              <a:t>HFA mortgage @ 0.50%
30-yr amortisation</a:t>
            </a:r>
          </a:p>
        </p:txBody>
      </p:sp>
      <p:sp>
        <p:nvSpPr>
          <p:cNvPr id="71" name="TextBox 70"/>
          <p:cNvSpPr txBox="1"/>
          <p:nvPr/>
        </p:nvSpPr>
        <p:spPr>
          <a:xfrm>
            <a:off x="4096512" y="3749040"/>
            <a:ext cx="201168" cy="329184"/>
          </a:xfrm>
          <a:prstGeom prst="rect">
            <a:avLst/>
          </a:prstGeom>
          <a:noFill/>
        </p:spPr>
        <p:txBody>
          <a:bodyPr wrap="none">
            <a:spAutoFit/>
          </a:bodyPr>
          <a:lstStyle/>
          <a:p>
            <a:pPr algn="ctr"/>
            <a:r>
              <a:rPr sz="1400" b="1" i="0">
                <a:solidFill>
                  <a:srgbClr val="4A7EC0"/>
                </a:solidFill>
                <a:latin typeface="Calibri"/>
              </a:rPr>
              <a:t>→</a:t>
            </a:r>
          </a:p>
        </p:txBody>
      </p:sp>
      <p:sp>
        <p:nvSpPr>
          <p:cNvPr id="72" name="Rectangle 71"/>
          <p:cNvSpPr/>
          <p:nvPr/>
        </p:nvSpPr>
        <p:spPr>
          <a:xfrm>
            <a:off x="4288536" y="3355848"/>
            <a:ext cx="1828800" cy="1115568"/>
          </a:xfrm>
          <a:prstGeom prst="rect">
            <a:avLst/>
          </a:prstGeom>
          <a:solidFill>
            <a:srgbClr val="EBF2FB"/>
          </a:solidFill>
          <a:ln w="10160">
            <a:solidFill>
              <a:srgbClr val="A8C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4288536" y="3355848"/>
            <a:ext cx="1828800" cy="50292"/>
          </a:xfrm>
          <a:prstGeom prst="rect">
            <a:avLst/>
          </a:prstGeom>
          <a:solidFill>
            <a:srgbClr val="4A7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4398264" y="3447288"/>
            <a:ext cx="1627632" cy="420624"/>
          </a:xfrm>
          <a:prstGeom prst="rect">
            <a:avLst/>
          </a:prstGeom>
          <a:noFill/>
        </p:spPr>
        <p:txBody>
          <a:bodyPr wrap="square">
            <a:spAutoFit/>
          </a:bodyPr>
          <a:lstStyle/>
          <a:p>
            <a:r>
              <a:rPr sz="900" b="1" i="0">
                <a:solidFill>
                  <a:srgbClr val="1A2744"/>
                </a:solidFill>
                <a:latin typeface="Calibri"/>
              </a:rPr>
              <a:t>Debt Service
Coverage</a:t>
            </a:r>
          </a:p>
        </p:txBody>
      </p:sp>
      <p:sp>
        <p:nvSpPr>
          <p:cNvPr id="75" name="Rectangle 74"/>
          <p:cNvSpPr/>
          <p:nvPr/>
        </p:nvSpPr>
        <p:spPr>
          <a:xfrm>
            <a:off x="4398264" y="3904488"/>
            <a:ext cx="1609344" cy="27432"/>
          </a:xfrm>
          <a:prstGeom prst="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4398264" y="3977640"/>
            <a:ext cx="1627632" cy="365760"/>
          </a:xfrm>
          <a:prstGeom prst="rect">
            <a:avLst/>
          </a:prstGeom>
          <a:noFill/>
        </p:spPr>
        <p:txBody>
          <a:bodyPr wrap="square">
            <a:spAutoFit/>
          </a:bodyPr>
          <a:lstStyle/>
          <a:p>
            <a:r>
              <a:rPr sz="800" b="0" i="0">
                <a:solidFill>
                  <a:srgbClr val="2E3F5C"/>
                </a:solidFill>
                <a:latin typeface="Calibri"/>
              </a:rPr>
              <a:t>Annual DS = $2.976M
NCF min DSCR ≥ 1.15×</a:t>
            </a:r>
          </a:p>
        </p:txBody>
      </p:sp>
      <p:sp>
        <p:nvSpPr>
          <p:cNvPr id="77" name="TextBox 76"/>
          <p:cNvSpPr txBox="1"/>
          <p:nvPr/>
        </p:nvSpPr>
        <p:spPr>
          <a:xfrm>
            <a:off x="6126480" y="3749040"/>
            <a:ext cx="201168" cy="329184"/>
          </a:xfrm>
          <a:prstGeom prst="rect">
            <a:avLst/>
          </a:prstGeom>
          <a:noFill/>
        </p:spPr>
        <p:txBody>
          <a:bodyPr wrap="none">
            <a:spAutoFit/>
          </a:bodyPr>
          <a:lstStyle/>
          <a:p>
            <a:pPr algn="ctr"/>
            <a:r>
              <a:rPr sz="1400" b="1" i="0">
                <a:solidFill>
                  <a:srgbClr val="4A7EC0"/>
                </a:solidFill>
                <a:latin typeface="Calibri"/>
              </a:rPr>
              <a:t>→</a:t>
            </a:r>
          </a:p>
        </p:txBody>
      </p:sp>
      <p:sp>
        <p:nvSpPr>
          <p:cNvPr id="78" name="Rectangle 77"/>
          <p:cNvSpPr/>
          <p:nvPr/>
        </p:nvSpPr>
        <p:spPr>
          <a:xfrm>
            <a:off x="6318504" y="3355848"/>
            <a:ext cx="1828800" cy="1115568"/>
          </a:xfrm>
          <a:prstGeom prst="rect">
            <a:avLst/>
          </a:prstGeom>
          <a:solidFill>
            <a:srgbClr val="EBF2FB"/>
          </a:solidFill>
          <a:ln w="10160">
            <a:solidFill>
              <a:srgbClr val="A8C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6318504" y="3355848"/>
            <a:ext cx="1828800" cy="50292"/>
          </a:xfrm>
          <a:prstGeom prst="rect">
            <a:avLst/>
          </a:prstGeom>
          <a:solidFill>
            <a:srgbClr val="4A7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6428232" y="3447288"/>
            <a:ext cx="1627632" cy="420624"/>
          </a:xfrm>
          <a:prstGeom prst="rect">
            <a:avLst/>
          </a:prstGeom>
          <a:noFill/>
        </p:spPr>
        <p:txBody>
          <a:bodyPr wrap="square">
            <a:spAutoFit/>
          </a:bodyPr>
          <a:lstStyle/>
          <a:p>
            <a:r>
              <a:rPr sz="900" b="1" i="0">
                <a:solidFill>
                  <a:srgbClr val="1A2744"/>
                </a:solidFill>
                <a:latin typeface="Calibri"/>
              </a:rPr>
              <a:t>Net Cash
Flow</a:t>
            </a:r>
          </a:p>
        </p:txBody>
      </p:sp>
      <p:sp>
        <p:nvSpPr>
          <p:cNvPr id="81" name="Rectangle 80"/>
          <p:cNvSpPr/>
          <p:nvPr/>
        </p:nvSpPr>
        <p:spPr>
          <a:xfrm>
            <a:off x="6428232" y="3904488"/>
            <a:ext cx="1609344" cy="27432"/>
          </a:xfrm>
          <a:prstGeom prst="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6428232" y="3977640"/>
            <a:ext cx="1627632" cy="365760"/>
          </a:xfrm>
          <a:prstGeom prst="rect">
            <a:avLst/>
          </a:prstGeom>
          <a:noFill/>
        </p:spPr>
        <p:txBody>
          <a:bodyPr wrap="square">
            <a:spAutoFit/>
          </a:bodyPr>
          <a:lstStyle/>
          <a:p>
            <a:r>
              <a:rPr sz="800" b="0" i="0">
                <a:solidFill>
                  <a:srgbClr val="2E3F5C"/>
                </a:solidFill>
                <a:latin typeface="Calibri"/>
              </a:rPr>
              <a:t>NOI − Debt Service
Year 1: $1.13M</a:t>
            </a:r>
          </a:p>
        </p:txBody>
      </p:sp>
      <p:sp>
        <p:nvSpPr>
          <p:cNvPr id="83" name="Rectangle 82"/>
          <p:cNvSpPr/>
          <p:nvPr/>
        </p:nvSpPr>
        <p:spPr>
          <a:xfrm>
            <a:off x="6318504" y="3355848"/>
            <a:ext cx="1828800" cy="50292"/>
          </a:xfrm>
          <a:prstGeom prst="rect">
            <a:avLst/>
          </a:prstGeom>
          <a:solidFill>
            <a:srgbClr val="2D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8412480" y="4828032"/>
            <a:ext cx="548640" cy="201168"/>
          </a:xfrm>
          <a:prstGeom prst="rect">
            <a:avLst/>
          </a:prstGeom>
          <a:noFill/>
        </p:spPr>
        <p:txBody>
          <a:bodyPr wrap="square">
            <a:spAutoFit/>
          </a:bodyPr>
          <a:lstStyle/>
          <a:p>
            <a:pPr algn="r"/>
            <a:r>
              <a:rPr sz="900" b="0" i="0">
                <a:solidFill>
                  <a:srgbClr val="6B7A96"/>
                </a:solidFill>
                <a:latin typeface="Calibri"/>
              </a:rPr>
              <a:t>05</a:t>
            </a:r>
          </a:p>
        </p:txBody>
      </p:sp>
      <p:sp>
        <p:nvSpPr>
          <p:cNvPr id="85" name="TextBox 84"/>
          <p:cNvSpPr txBox="1"/>
          <p:nvPr/>
        </p:nvSpPr>
        <p:spPr>
          <a:xfrm>
            <a:off x="274320" y="4992624"/>
            <a:ext cx="8686800" cy="128016"/>
          </a:xfrm>
          <a:prstGeom prst="rect">
            <a:avLst/>
          </a:prstGeom>
          <a:noFill/>
        </p:spPr>
        <p:txBody>
          <a:bodyPr wrap="square">
            <a:spAutoFit/>
          </a:bodyPr>
          <a:lstStyle/>
          <a:p>
            <a:pPr algn="r"/>
            <a:r>
              <a:rPr sz="700" b="0" i="0">
                <a:solidFill>
                  <a:srgbClr val="6B7A96"/>
                </a:solidFill>
                <a:latin typeface="Calibri"/>
              </a:rPr>
              <a:t>Confidential / Academic Use Only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84048" y="201168"/>
            <a:ext cx="8229600" cy="530352"/>
          </a:xfrm>
          <a:prstGeom prst="rect">
            <a:avLst/>
          </a:prstGeom>
          <a:noFill/>
          <a:ln/>
        </p:spPr>
        <p:txBody>
          <a:bodyPr wrap="square" lIns="0" tIns="0" rIns="0" bIns="0" rtlCol="0" anchor="ctr"/>
          <a:lstStyle/>
          <a:p>
            <a:pPr marL="0" indent="0">
              <a:buNone/>
            </a:pPr>
            <a:r>
              <a:rPr lang="en-US" sz="3000" dirty="0">
                <a:solidFill>
                  <a:srgbClr val="1A2744"/>
                </a:solidFill>
                <a:latin typeface="Georgia" pitchFamily="34" charset="0"/>
                <a:ea typeface="Georgia" pitchFamily="34" charset="-122"/>
                <a:cs typeface="Georgia" pitchFamily="34" charset="-120"/>
              </a:rPr>
              <a:t>Development Budget</a:t>
            </a:r>
            <a:endParaRPr lang="en-US" sz="3000" dirty="0"/>
          </a:p>
        </p:txBody>
      </p:sp>
      <p:sp>
        <p:nvSpPr>
          <p:cNvPr id="4" name="Shape 1"/>
          <p:cNvSpPr/>
          <p:nvPr/>
        </p:nvSpPr>
        <p:spPr>
          <a:xfrm>
            <a:off x="384048" y="749808"/>
            <a:ext cx="2103120" cy="41148"/>
          </a:xfrm>
          <a:prstGeom prst="rect">
            <a:avLst/>
          </a:prstGeom>
          <a:solidFill>
            <a:srgbClr val="4A7EC0"/>
          </a:solidFill>
          <a:ln w="12700">
            <a:solidFill>
              <a:srgbClr val="4A7EC0"/>
            </a:solidFill>
            <a:prstDash val="solid"/>
          </a:ln>
        </p:spPr>
        <p:txBody>
          <a:bodyPr/>
          <a:lstStyle/>
          <a:p>
            <a:endParaRPr lang="en-IN"/>
          </a:p>
        </p:txBody>
      </p:sp>
      <p:sp>
        <p:nvSpPr>
          <p:cNvPr id="5" name="Shape 2"/>
          <p:cNvSpPr/>
          <p:nvPr/>
        </p:nvSpPr>
        <p:spPr>
          <a:xfrm>
            <a:off x="256032" y="1005840"/>
            <a:ext cx="3931920" cy="3931920"/>
          </a:xfrm>
          <a:prstGeom prst="rect">
            <a:avLst/>
          </a:prstGeom>
          <a:solidFill>
            <a:srgbClr val="FFFFFF"/>
          </a:solidFill>
          <a:ln w="9525">
            <a:solidFill>
              <a:srgbClr val="DCE4F0"/>
            </a:solidFill>
            <a:prstDash val="solid"/>
          </a:ln>
          <a:effectLst>
            <a:outerShdw blurRad="101600" dist="25400" dir="8100000" algn="bl" rotWithShape="0">
              <a:srgbClr val="1A2744">
                <a:alpha val="8000"/>
              </a:srgbClr>
            </a:outerShdw>
          </a:effectLst>
        </p:spPr>
        <p:txBody>
          <a:bodyPr/>
          <a:lstStyle/>
          <a:p>
            <a:endParaRPr lang="en-IN"/>
          </a:p>
        </p:txBody>
      </p:sp>
      <p:sp>
        <p:nvSpPr>
          <p:cNvPr id="6" name="Shape 3"/>
          <p:cNvSpPr/>
          <p:nvPr/>
        </p:nvSpPr>
        <p:spPr>
          <a:xfrm>
            <a:off x="256032" y="1005840"/>
            <a:ext cx="50292" cy="3931920"/>
          </a:xfrm>
          <a:prstGeom prst="rect">
            <a:avLst/>
          </a:prstGeom>
          <a:solidFill>
            <a:srgbClr val="2D4EA2"/>
          </a:solidFill>
          <a:ln w="12700">
            <a:solidFill>
              <a:srgbClr val="2D4EA2"/>
            </a:solidFill>
            <a:prstDash val="solid"/>
          </a:ln>
        </p:spPr>
        <p:txBody>
          <a:bodyPr/>
          <a:lstStyle/>
          <a:p>
            <a:endParaRPr lang="en-IN"/>
          </a:p>
        </p:txBody>
      </p:sp>
      <p:sp>
        <p:nvSpPr>
          <p:cNvPr id="7" name="Text 4"/>
          <p:cNvSpPr/>
          <p:nvPr/>
        </p:nvSpPr>
        <p:spPr>
          <a:xfrm>
            <a:off x="411480" y="1078992"/>
            <a:ext cx="3657600" cy="274320"/>
          </a:xfrm>
          <a:prstGeom prst="rect">
            <a:avLst/>
          </a:prstGeom>
          <a:noFill/>
          <a:ln/>
        </p:spPr>
        <p:txBody>
          <a:bodyPr wrap="square" lIns="0" tIns="0" rIns="0" bIns="0" rtlCol="0" anchor="ctr"/>
          <a:lstStyle/>
          <a:p>
            <a:pPr marL="0" indent="0">
              <a:buNone/>
            </a:pPr>
            <a:r>
              <a:rPr lang="en-US" sz="950" b="1" dirty="0">
                <a:solidFill>
                  <a:srgbClr val="2D4EA2"/>
                </a:solidFill>
                <a:latin typeface="Calibri" pitchFamily="34" charset="0"/>
                <a:ea typeface="Calibri" pitchFamily="34" charset="-122"/>
                <a:cs typeface="Calibri" pitchFamily="34" charset="-120"/>
              </a:rPr>
              <a:t>Total Development Cost:  USD 248,742,338</a:t>
            </a:r>
            <a:endParaRPr lang="en-US" sz="950" dirty="0"/>
          </a:p>
        </p:txBody>
      </p:sp>
      <p:sp>
        <p:nvSpPr>
          <p:cNvPr id="8" name="Shape 5"/>
          <p:cNvSpPr/>
          <p:nvPr/>
        </p:nvSpPr>
        <p:spPr>
          <a:xfrm>
            <a:off x="411480" y="1371600"/>
            <a:ext cx="3611880" cy="27432"/>
          </a:xfrm>
          <a:prstGeom prst="rect">
            <a:avLst/>
          </a:prstGeom>
          <a:solidFill>
            <a:srgbClr val="DCE4F0"/>
          </a:solidFill>
          <a:ln w="12700">
            <a:solidFill>
              <a:srgbClr val="DCE4F0"/>
            </a:solidFill>
            <a:prstDash val="solid"/>
          </a:ln>
        </p:spPr>
        <p:txBody>
          <a:bodyPr/>
          <a:lstStyle/>
          <a:p>
            <a:endParaRPr lang="en-IN"/>
          </a:p>
        </p:txBody>
      </p:sp>
      <p:sp>
        <p:nvSpPr>
          <p:cNvPr id="9" name="Text 6"/>
          <p:cNvSpPr/>
          <p:nvPr/>
        </p:nvSpPr>
        <p:spPr>
          <a:xfrm>
            <a:off x="411480" y="1444752"/>
            <a:ext cx="3611880" cy="3337560"/>
          </a:xfrm>
          <a:prstGeom prst="rect">
            <a:avLst/>
          </a:prstGeom>
          <a:noFill/>
          <a:ln/>
        </p:spPr>
        <p:txBody>
          <a:bodyPr wrap="square" lIns="0" tIns="0" rIns="0" bIns="0" rtlCol="0" anchor="ctr"/>
          <a:lstStyle/>
          <a:p>
            <a:pPr marL="0" indent="0">
              <a:buNone/>
            </a:pPr>
            <a:r>
              <a:rPr lang="en-US" sz="830" dirty="0">
                <a:solidFill>
                  <a:srgbClr val="2E3F5C"/>
                </a:solidFill>
                <a:latin typeface="Calibri" pitchFamily="34" charset="0"/>
                <a:ea typeface="Calibri" pitchFamily="34" charset="-122"/>
                <a:cs typeface="Calibri" pitchFamily="34" charset="-120"/>
              </a:rPr>
              <a:t>The Total Development Cost of Upstate House, LLC stands at USD 248.7 million, covering a 323,300 GSF development comprising 328 residential units and 18,000 SF of community facility space.</a:t>
            </a:r>
            <a:endParaRPr lang="en-US" sz="830" dirty="0"/>
          </a:p>
          <a:p>
            <a:pPr marL="0" indent="0">
              <a:buNone/>
            </a:pPr>
            <a:endParaRPr lang="en-US" sz="830" dirty="0"/>
          </a:p>
          <a:p>
            <a:pPr marL="0" indent="0">
              <a:buNone/>
            </a:pPr>
            <a:r>
              <a:rPr lang="en-US" sz="830" dirty="0">
                <a:solidFill>
                  <a:srgbClr val="2E3F5C"/>
                </a:solidFill>
                <a:latin typeface="Calibri" pitchFamily="34" charset="0"/>
                <a:ea typeface="Calibri" pitchFamily="34" charset="-122"/>
                <a:cs typeface="Calibri" pitchFamily="34" charset="-120"/>
              </a:rPr>
              <a:t>Construction hard costs form the largest component, reflecting the scale of new construction in New York City. The developer fee of USD 47.2 million represents 19% of TDC — a programme-standard figure under HPD NCF guidelines.</a:t>
            </a:r>
            <a:endParaRPr lang="en-US" sz="830" dirty="0"/>
          </a:p>
          <a:p>
            <a:pPr marL="0" indent="0">
              <a:buNone/>
            </a:pPr>
            <a:endParaRPr lang="en-US" sz="830" dirty="0"/>
          </a:p>
          <a:p>
            <a:pPr marL="0" indent="0">
              <a:buNone/>
            </a:pPr>
            <a:r>
              <a:rPr lang="en-US" sz="830" dirty="0">
                <a:solidFill>
                  <a:srgbClr val="2E3F5C"/>
                </a:solidFill>
                <a:latin typeface="Calibri" pitchFamily="34" charset="0"/>
                <a:ea typeface="Calibri" pitchFamily="34" charset="-122"/>
                <a:cs typeface="Calibri" pitchFamily="34" charset="-120"/>
              </a:rPr>
              <a:t>Acquisition at USD 10.6 million (4.3%) is modest relative to TDC, reflective of the site's affordable housing designation. Soft costs and carrying costs, while standard for a project of this scale and complexity, are partially offset by the tax-exempt bond structure.</a:t>
            </a:r>
            <a:endParaRPr lang="en-US" sz="830" dirty="0"/>
          </a:p>
          <a:p>
            <a:pPr marL="0" indent="0">
              <a:buNone/>
            </a:pPr>
            <a:endParaRPr lang="en-US" sz="830" dirty="0"/>
          </a:p>
          <a:p>
            <a:pPr marL="0" indent="0">
              <a:buNone/>
            </a:pPr>
            <a:r>
              <a:rPr lang="en-US" sz="830" dirty="0">
                <a:solidFill>
                  <a:srgbClr val="2E3F5C"/>
                </a:solidFill>
                <a:latin typeface="Calibri" pitchFamily="34" charset="0"/>
                <a:ea typeface="Calibri" pitchFamily="34" charset="-122"/>
                <a:cs typeface="Calibri" pitchFamily="34" charset="-120"/>
              </a:rPr>
              <a:t>The hard cost base of USD 242.2 million constitutes the LIHTC eligible basis for the 4% credit calculation.</a:t>
            </a:r>
            <a:endParaRPr lang="en-US" sz="830" dirty="0"/>
          </a:p>
        </p:txBody>
      </p:sp>
      <p:graphicFrame>
        <p:nvGraphicFramePr>
          <p:cNvPr id="10" name="Chart 0"/>
          <p:cNvGraphicFramePr/>
          <p:nvPr>
            <p:extLst>
              <p:ext uri="{D42A27DB-BD31-4B8C-83A1-F6EECF244321}">
                <p14:modId xmlns:p14="http://schemas.microsoft.com/office/powerpoint/2010/main" val="2509393282"/>
              </p:ext>
            </p:extLst>
          </p:nvPr>
        </p:nvGraphicFramePr>
        <p:xfrm>
          <a:off x="4343400" y="960120"/>
          <a:ext cx="4526280" cy="402336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 7"/>
          <p:cNvSpPr/>
          <p:nvPr/>
        </p:nvSpPr>
        <p:spPr>
          <a:xfrm>
            <a:off x="8686800" y="4846320"/>
            <a:ext cx="384048" cy="228600"/>
          </a:xfrm>
          <a:prstGeom prst="rect">
            <a:avLst/>
          </a:prstGeom>
          <a:noFill/>
          <a:ln/>
        </p:spPr>
        <p:txBody>
          <a:bodyPr wrap="square" lIns="0" tIns="0" rIns="0" bIns="0" rtlCol="0" anchor="ctr"/>
          <a:lstStyle/>
          <a:p>
            <a:pPr marL="0" indent="0" algn="r">
              <a:buNone/>
            </a:pPr>
            <a:r>
              <a:rPr lang="en-US" sz="900" dirty="0">
                <a:solidFill>
                  <a:srgbClr val="6B7A96"/>
                </a:solidFill>
                <a:latin typeface="Calibri" pitchFamily="34" charset="0"/>
                <a:ea typeface="Calibri" pitchFamily="34" charset="-122"/>
                <a:cs typeface="Calibri" pitchFamily="34" charset="-120"/>
              </a:rPr>
              <a:t>07</a:t>
            </a:r>
            <a:endParaRPr lang="en-US" sz="900" dirty="0"/>
          </a:p>
        </p:txBody>
      </p:sp>
      <p:sp>
        <p:nvSpPr>
          <p:cNvPr id="12" name="Text 8"/>
          <p:cNvSpPr/>
          <p:nvPr/>
        </p:nvSpPr>
        <p:spPr>
          <a:xfrm>
            <a:off x="274320" y="5001768"/>
            <a:ext cx="8686800" cy="137160"/>
          </a:xfrm>
          <a:prstGeom prst="rect">
            <a:avLst/>
          </a:prstGeom>
          <a:noFill/>
          <a:ln/>
        </p:spPr>
        <p:txBody>
          <a:bodyPr wrap="square" lIns="0" tIns="0" rIns="0" bIns="0" rtlCol="0" anchor="ctr"/>
          <a:lstStyle/>
          <a:p>
            <a:pPr marL="0" indent="0" algn="r">
              <a:buNone/>
            </a:pPr>
            <a:r>
              <a:rPr lang="en-US" sz="700" dirty="0">
                <a:solidFill>
                  <a:srgbClr val="6B7A96"/>
                </a:solidFill>
                <a:latin typeface="Calibri" pitchFamily="34" charset="0"/>
                <a:ea typeface="Calibri" pitchFamily="34" charset="-122"/>
                <a:cs typeface="Calibri" pitchFamily="34" charset="-120"/>
              </a:rPr>
              <a:t>Confidential / Academic Use Only</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84048" y="201168"/>
            <a:ext cx="8229600" cy="530352"/>
          </a:xfrm>
          <a:prstGeom prst="rect">
            <a:avLst/>
          </a:prstGeom>
          <a:noFill/>
          <a:ln/>
        </p:spPr>
        <p:txBody>
          <a:bodyPr wrap="square" lIns="0" tIns="0" rIns="0" bIns="0" rtlCol="0" anchor="ctr"/>
          <a:lstStyle/>
          <a:p>
            <a:pPr marL="0" indent="0">
              <a:buNone/>
            </a:pPr>
            <a:r>
              <a:rPr lang="en-US" sz="3000" dirty="0">
                <a:solidFill>
                  <a:srgbClr val="1A2744"/>
                </a:solidFill>
                <a:latin typeface="Georgia" pitchFamily="34" charset="0"/>
                <a:ea typeface="Georgia" pitchFamily="34" charset="-122"/>
                <a:cs typeface="Georgia" pitchFamily="34" charset="-120"/>
              </a:rPr>
              <a:t>Sources &amp; Uses  —  Capital Stack</a:t>
            </a:r>
            <a:endParaRPr lang="en-US" sz="3000" dirty="0"/>
          </a:p>
        </p:txBody>
      </p:sp>
      <p:sp>
        <p:nvSpPr>
          <p:cNvPr id="4" name="Shape 1"/>
          <p:cNvSpPr/>
          <p:nvPr/>
        </p:nvSpPr>
        <p:spPr>
          <a:xfrm>
            <a:off x="384048" y="749808"/>
            <a:ext cx="2651760" cy="41148"/>
          </a:xfrm>
          <a:prstGeom prst="rect">
            <a:avLst/>
          </a:prstGeom>
          <a:solidFill>
            <a:srgbClr val="4A7EC0"/>
          </a:solidFill>
          <a:ln w="12700">
            <a:solidFill>
              <a:srgbClr val="4A7EC0"/>
            </a:solidFill>
            <a:prstDash val="solid"/>
          </a:ln>
        </p:spPr>
        <p:txBody>
          <a:bodyPr/>
          <a:lstStyle/>
          <a:p>
            <a:endParaRPr lang="en-IN"/>
          </a:p>
        </p:txBody>
      </p:sp>
      <p:sp>
        <p:nvSpPr>
          <p:cNvPr id="5" name="Shape 2"/>
          <p:cNvSpPr/>
          <p:nvPr/>
        </p:nvSpPr>
        <p:spPr>
          <a:xfrm>
            <a:off x="256032" y="914400"/>
            <a:ext cx="8631936" cy="804672"/>
          </a:xfrm>
          <a:prstGeom prst="rect">
            <a:avLst/>
          </a:prstGeom>
          <a:solidFill>
            <a:srgbClr val="FFFFFF"/>
          </a:solidFill>
          <a:ln w="9525">
            <a:solidFill>
              <a:srgbClr val="DCE4F0"/>
            </a:solidFill>
            <a:prstDash val="solid"/>
          </a:ln>
          <a:effectLst>
            <a:outerShdw blurRad="101600" dist="25400" dir="8100000" algn="bl" rotWithShape="0">
              <a:srgbClr val="1A2744">
                <a:alpha val="8000"/>
              </a:srgbClr>
            </a:outerShdw>
          </a:effectLst>
        </p:spPr>
        <p:txBody>
          <a:bodyPr/>
          <a:lstStyle/>
          <a:p>
            <a:endParaRPr lang="en-IN"/>
          </a:p>
        </p:txBody>
      </p:sp>
      <p:sp>
        <p:nvSpPr>
          <p:cNvPr id="6" name="Shape 3"/>
          <p:cNvSpPr/>
          <p:nvPr/>
        </p:nvSpPr>
        <p:spPr>
          <a:xfrm>
            <a:off x="256032" y="914400"/>
            <a:ext cx="50292" cy="804672"/>
          </a:xfrm>
          <a:prstGeom prst="rect">
            <a:avLst/>
          </a:prstGeom>
          <a:solidFill>
            <a:srgbClr val="2D4EA2"/>
          </a:solidFill>
          <a:ln w="12700">
            <a:solidFill>
              <a:srgbClr val="2D4EA2"/>
            </a:solidFill>
            <a:prstDash val="solid"/>
          </a:ln>
        </p:spPr>
        <p:txBody>
          <a:bodyPr/>
          <a:lstStyle/>
          <a:p>
            <a:endParaRPr lang="en-IN"/>
          </a:p>
        </p:txBody>
      </p:sp>
      <p:sp>
        <p:nvSpPr>
          <p:cNvPr id="7" name="Text 4"/>
          <p:cNvSpPr/>
          <p:nvPr/>
        </p:nvSpPr>
        <p:spPr>
          <a:xfrm>
            <a:off x="411480" y="987552"/>
            <a:ext cx="8321040" cy="658368"/>
          </a:xfrm>
          <a:prstGeom prst="rect">
            <a:avLst/>
          </a:prstGeom>
          <a:noFill/>
          <a:ln/>
        </p:spPr>
        <p:txBody>
          <a:bodyPr wrap="square" lIns="0" tIns="0" rIns="0" bIns="0" rtlCol="0" anchor="ctr"/>
          <a:lstStyle/>
          <a:p>
            <a:pPr marL="0" indent="0">
              <a:buNone/>
            </a:pPr>
            <a:r>
              <a:rPr lang="en-US" sz="880" dirty="0">
                <a:solidFill>
                  <a:srgbClr val="2E3F5C"/>
                </a:solidFill>
                <a:latin typeface="Calibri" pitchFamily="34" charset="0"/>
                <a:ea typeface="Calibri" pitchFamily="34" charset="-122"/>
                <a:cs typeface="Calibri" pitchFamily="34" charset="-120"/>
              </a:rPr>
              <a:t>The permanent capital stack totals USD 248.7 million, precisely matching Total Development Cost with no residual funding gap. Public financing instruments — LIHTC equity and the HPD NCF subsidy loan — account for 63.8% of permanent sources, confirming that financial viability is structurally dependent on simultaneous access to both. The construction phase is funded by an HFA tax-exempt bond construction loan of USD 134.6 million drawn progressively over 30 months, which converts to the permanent HFA first mortgage at stabilisation.</a:t>
            </a:r>
            <a:endParaRPr lang="en-US" sz="880" dirty="0"/>
          </a:p>
        </p:txBody>
      </p:sp>
      <p:sp>
        <p:nvSpPr>
          <p:cNvPr id="8" name="Shape 5"/>
          <p:cNvSpPr/>
          <p:nvPr/>
        </p:nvSpPr>
        <p:spPr>
          <a:xfrm>
            <a:off x="256032" y="1810512"/>
            <a:ext cx="4151376" cy="3127248"/>
          </a:xfrm>
          <a:prstGeom prst="rect">
            <a:avLst/>
          </a:prstGeom>
          <a:solidFill>
            <a:srgbClr val="FFFFFF"/>
          </a:solidFill>
          <a:ln w="9525">
            <a:solidFill>
              <a:srgbClr val="DCE4F0"/>
            </a:solidFill>
            <a:prstDash val="solid"/>
          </a:ln>
          <a:effectLst>
            <a:outerShdw blurRad="101600" dist="25400" dir="8100000" algn="bl" rotWithShape="0">
              <a:srgbClr val="1A2744">
                <a:alpha val="8000"/>
              </a:srgbClr>
            </a:outerShdw>
          </a:effectLst>
        </p:spPr>
        <p:txBody>
          <a:bodyPr/>
          <a:lstStyle/>
          <a:p>
            <a:endParaRPr lang="en-IN"/>
          </a:p>
        </p:txBody>
      </p:sp>
      <p:sp>
        <p:nvSpPr>
          <p:cNvPr id="9" name="Text 6"/>
          <p:cNvSpPr/>
          <p:nvPr/>
        </p:nvSpPr>
        <p:spPr>
          <a:xfrm>
            <a:off x="384048" y="1874520"/>
            <a:ext cx="3840480" cy="256032"/>
          </a:xfrm>
          <a:prstGeom prst="rect">
            <a:avLst/>
          </a:prstGeom>
          <a:noFill/>
          <a:ln/>
        </p:spPr>
        <p:txBody>
          <a:bodyPr wrap="square" lIns="0" tIns="0" rIns="0" bIns="0" rtlCol="0" anchor="ctr"/>
          <a:lstStyle/>
          <a:p>
            <a:pPr marL="0" indent="0">
              <a:buNone/>
            </a:pPr>
            <a:r>
              <a:rPr lang="en-US" sz="950" b="1" dirty="0">
                <a:solidFill>
                  <a:srgbClr val="2D4EA2"/>
                </a:solidFill>
                <a:latin typeface="Calibri" pitchFamily="34" charset="0"/>
                <a:ea typeface="Calibri" pitchFamily="34" charset="-122"/>
                <a:cs typeface="Calibri" pitchFamily="34" charset="-120"/>
              </a:rPr>
              <a:t>Construction Sources</a:t>
            </a:r>
            <a:endParaRPr lang="en-US" sz="950" dirty="0"/>
          </a:p>
        </p:txBody>
      </p:sp>
      <p:sp>
        <p:nvSpPr>
          <p:cNvPr id="10" name="Text 7"/>
          <p:cNvSpPr/>
          <p:nvPr/>
        </p:nvSpPr>
        <p:spPr>
          <a:xfrm>
            <a:off x="384048" y="2103120"/>
            <a:ext cx="3840480" cy="201168"/>
          </a:xfrm>
          <a:prstGeom prst="rect">
            <a:avLst/>
          </a:prstGeom>
          <a:noFill/>
          <a:ln/>
        </p:spPr>
        <p:txBody>
          <a:bodyPr wrap="square" lIns="0" tIns="0" rIns="0" bIns="0" rtlCol="0" anchor="ctr"/>
          <a:lstStyle/>
          <a:p>
            <a:pPr marL="0" indent="0">
              <a:buNone/>
            </a:pPr>
            <a:r>
              <a:rPr lang="en-US" sz="780" i="1" dirty="0">
                <a:solidFill>
                  <a:srgbClr val="6B7A96"/>
                </a:solidFill>
                <a:latin typeface="Calibri" pitchFamily="34" charset="0"/>
                <a:ea typeface="Calibri" pitchFamily="34" charset="-122"/>
                <a:cs typeface="Calibri" pitchFamily="34" charset="-120"/>
              </a:rPr>
              <a:t>USD 248.7M  ·  30-month draw period</a:t>
            </a:r>
            <a:endParaRPr lang="en-US" sz="780" dirty="0"/>
          </a:p>
        </p:txBody>
      </p:sp>
      <p:graphicFrame>
        <p:nvGraphicFramePr>
          <p:cNvPr id="11" name="Chart 0"/>
          <p:cNvGraphicFramePr/>
          <p:nvPr>
            <p:extLst>
              <p:ext uri="{D42A27DB-BD31-4B8C-83A1-F6EECF244321}">
                <p14:modId xmlns:p14="http://schemas.microsoft.com/office/powerpoint/2010/main" val="728098530"/>
              </p:ext>
            </p:extLst>
          </p:nvPr>
        </p:nvGraphicFramePr>
        <p:xfrm>
          <a:off x="320040" y="2331720"/>
          <a:ext cx="3977640" cy="2487168"/>
        </p:xfrm>
        <a:graphic>
          <a:graphicData uri="http://schemas.openxmlformats.org/drawingml/2006/chart">
            <c:chart xmlns:c="http://schemas.openxmlformats.org/drawingml/2006/chart" xmlns:r="http://schemas.openxmlformats.org/officeDocument/2006/relationships" r:id="rId4"/>
          </a:graphicData>
        </a:graphic>
      </p:graphicFrame>
      <p:sp>
        <p:nvSpPr>
          <p:cNvPr id="12" name="Shape 8"/>
          <p:cNvSpPr/>
          <p:nvPr/>
        </p:nvSpPr>
        <p:spPr>
          <a:xfrm>
            <a:off x="4736592" y="1810512"/>
            <a:ext cx="4151376" cy="3127248"/>
          </a:xfrm>
          <a:prstGeom prst="rect">
            <a:avLst/>
          </a:prstGeom>
          <a:solidFill>
            <a:srgbClr val="FFFFFF"/>
          </a:solidFill>
          <a:ln w="9525">
            <a:solidFill>
              <a:srgbClr val="DCE4F0"/>
            </a:solidFill>
            <a:prstDash val="solid"/>
          </a:ln>
          <a:effectLst>
            <a:outerShdw blurRad="101600" dist="25400" dir="8100000" algn="bl" rotWithShape="0">
              <a:srgbClr val="1A2744">
                <a:alpha val="8000"/>
              </a:srgbClr>
            </a:outerShdw>
          </a:effectLst>
        </p:spPr>
        <p:txBody>
          <a:bodyPr/>
          <a:lstStyle/>
          <a:p>
            <a:endParaRPr lang="en-IN"/>
          </a:p>
        </p:txBody>
      </p:sp>
      <p:sp>
        <p:nvSpPr>
          <p:cNvPr id="13" name="Text 9"/>
          <p:cNvSpPr/>
          <p:nvPr/>
        </p:nvSpPr>
        <p:spPr>
          <a:xfrm>
            <a:off x="4864608" y="1874520"/>
            <a:ext cx="3840480" cy="256032"/>
          </a:xfrm>
          <a:prstGeom prst="rect">
            <a:avLst/>
          </a:prstGeom>
          <a:noFill/>
          <a:ln/>
        </p:spPr>
        <p:txBody>
          <a:bodyPr wrap="square" lIns="0" tIns="0" rIns="0" bIns="0" rtlCol="0" anchor="ctr"/>
          <a:lstStyle/>
          <a:p>
            <a:pPr marL="0" indent="0">
              <a:buNone/>
            </a:pPr>
            <a:r>
              <a:rPr lang="en-US" sz="950" b="1" dirty="0">
                <a:solidFill>
                  <a:srgbClr val="2D4EA2"/>
                </a:solidFill>
                <a:latin typeface="Calibri" pitchFamily="34" charset="0"/>
                <a:ea typeface="Calibri" pitchFamily="34" charset="-122"/>
                <a:cs typeface="Calibri" pitchFamily="34" charset="-120"/>
              </a:rPr>
              <a:t>Permanent Sources</a:t>
            </a:r>
            <a:endParaRPr lang="en-US" sz="950" dirty="0"/>
          </a:p>
        </p:txBody>
      </p:sp>
      <p:sp>
        <p:nvSpPr>
          <p:cNvPr id="14" name="Text 10"/>
          <p:cNvSpPr/>
          <p:nvPr/>
        </p:nvSpPr>
        <p:spPr>
          <a:xfrm>
            <a:off x="4864608" y="2103120"/>
            <a:ext cx="3840480" cy="201168"/>
          </a:xfrm>
          <a:prstGeom prst="rect">
            <a:avLst/>
          </a:prstGeom>
          <a:noFill/>
          <a:ln/>
        </p:spPr>
        <p:txBody>
          <a:bodyPr wrap="square" lIns="0" tIns="0" rIns="0" bIns="0" rtlCol="0" anchor="ctr"/>
          <a:lstStyle/>
          <a:p>
            <a:pPr marL="0" indent="0">
              <a:buNone/>
            </a:pPr>
            <a:r>
              <a:rPr lang="en-US" sz="750" b="1" i="1" dirty="0">
                <a:solidFill>
                  <a:srgbClr val="4A7EC0"/>
                </a:solidFill>
                <a:latin typeface="Calibri" pitchFamily="34" charset="0"/>
                <a:ea typeface="Calibri" pitchFamily="34" charset="-122"/>
                <a:cs typeface="Calibri" pitchFamily="34" charset="-120"/>
              </a:rPr>
              <a:t>Tax Credit: Elig. Basis $242.2M  ×  100% frac.  ×  4%  =  $9.69M/yr  ×  $1.10  =  $106.3M equity</a:t>
            </a:r>
            <a:endParaRPr lang="en-US" sz="750" dirty="0"/>
          </a:p>
        </p:txBody>
      </p:sp>
      <p:graphicFrame>
        <p:nvGraphicFramePr>
          <p:cNvPr id="15" name="Chart 1"/>
          <p:cNvGraphicFramePr/>
          <p:nvPr>
            <p:extLst>
              <p:ext uri="{D42A27DB-BD31-4B8C-83A1-F6EECF244321}">
                <p14:modId xmlns:p14="http://schemas.microsoft.com/office/powerpoint/2010/main" val="3397852602"/>
              </p:ext>
            </p:extLst>
          </p:nvPr>
        </p:nvGraphicFramePr>
        <p:xfrm>
          <a:off x="4800600" y="2331720"/>
          <a:ext cx="3977640" cy="2487168"/>
        </p:xfrm>
        <a:graphic>
          <a:graphicData uri="http://schemas.openxmlformats.org/drawingml/2006/chart">
            <c:chart xmlns:c="http://schemas.openxmlformats.org/drawingml/2006/chart" xmlns:r="http://schemas.openxmlformats.org/officeDocument/2006/relationships" r:id="rId5"/>
          </a:graphicData>
        </a:graphic>
      </p:graphicFrame>
      <p:sp>
        <p:nvSpPr>
          <p:cNvPr id="16" name="Text 11"/>
          <p:cNvSpPr/>
          <p:nvPr/>
        </p:nvSpPr>
        <p:spPr>
          <a:xfrm>
            <a:off x="8686800" y="4846320"/>
            <a:ext cx="384048" cy="228600"/>
          </a:xfrm>
          <a:prstGeom prst="rect">
            <a:avLst/>
          </a:prstGeom>
          <a:noFill/>
          <a:ln/>
        </p:spPr>
        <p:txBody>
          <a:bodyPr wrap="square" lIns="0" tIns="0" rIns="0" bIns="0" rtlCol="0" anchor="ctr"/>
          <a:lstStyle/>
          <a:p>
            <a:pPr marL="0" indent="0" algn="r">
              <a:buNone/>
            </a:pPr>
            <a:r>
              <a:rPr lang="en-US" sz="900" dirty="0">
                <a:solidFill>
                  <a:srgbClr val="6B7A96"/>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384048" y="182880"/>
            <a:ext cx="6858000" cy="530352"/>
          </a:xfrm>
          <a:prstGeom prst="rect">
            <a:avLst/>
          </a:prstGeom>
          <a:noFill/>
        </p:spPr>
        <p:txBody>
          <a:bodyPr wrap="none">
            <a:spAutoFit/>
          </a:bodyPr>
          <a:lstStyle/>
          <a:p>
            <a:r>
              <a:rPr sz="3000" b="0">
                <a:solidFill>
                  <a:srgbClr val="1A2744"/>
                </a:solidFill>
                <a:latin typeface="Georgia"/>
              </a:rPr>
              <a:t>Financial Ratios</a:t>
            </a:r>
          </a:p>
        </p:txBody>
      </p:sp>
      <p:sp>
        <p:nvSpPr>
          <p:cNvPr id="4" name="Rectangle 3"/>
          <p:cNvSpPr/>
          <p:nvPr/>
        </p:nvSpPr>
        <p:spPr>
          <a:xfrm>
            <a:off x="384048" y="749808"/>
            <a:ext cx="2011680" cy="41148"/>
          </a:xfrm>
          <a:prstGeom prst="rect">
            <a:avLst/>
          </a:prstGeom>
          <a:solidFill>
            <a:srgbClr val="4A7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84048" y="822960"/>
            <a:ext cx="7772400" cy="237744"/>
          </a:xfrm>
          <a:prstGeom prst="rect">
            <a:avLst/>
          </a:prstGeom>
          <a:noFill/>
        </p:spPr>
        <p:txBody>
          <a:bodyPr wrap="none">
            <a:spAutoFit/>
          </a:bodyPr>
          <a:lstStyle/>
          <a:p>
            <a:r>
              <a:rPr sz="1000" i="1">
                <a:solidFill>
                  <a:srgbClr val="6B7A96"/>
                </a:solidFill>
                <a:latin typeface="Calibri"/>
              </a:rPr>
              <a:t>Income-to-Expense Ratio &amp; Debt Service Coverage Ratio  ·  30-Year Projection (2029–2058)</a:t>
            </a:r>
          </a:p>
        </p:txBody>
      </p:sp>
      <p:sp>
        <p:nvSpPr>
          <p:cNvPr id="6" name="Rectangle 5"/>
          <p:cNvSpPr/>
          <p:nvPr/>
        </p:nvSpPr>
        <p:spPr>
          <a:xfrm>
            <a:off x="256032" y="1115568"/>
            <a:ext cx="8631936" cy="932688"/>
          </a:xfrm>
          <a:prstGeom prst="rect">
            <a:avLst/>
          </a:prstGeom>
          <a:solidFill>
            <a:srgbClr val="F0F5FF"/>
          </a:solidFill>
          <a:ln>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 y="1115568"/>
            <a:ext cx="50292" cy="932688"/>
          </a:xfrm>
          <a:prstGeom prst="rect">
            <a:avLst/>
          </a:prstGeom>
          <a:solidFill>
            <a:srgbClr val="4A7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0624" y="1161288"/>
            <a:ext cx="8321040" cy="822960"/>
          </a:xfrm>
          <a:prstGeom prst="rect">
            <a:avLst/>
          </a:prstGeom>
          <a:noFill/>
        </p:spPr>
        <p:txBody>
          <a:bodyPr wrap="square">
            <a:spAutoFit/>
          </a:bodyPr>
          <a:lstStyle/>
          <a:p>
            <a:r>
              <a:rPr sz="900" b="1" i="0">
                <a:solidFill>
                  <a:srgbClr val="4A7EC0"/>
                </a:solidFill>
                <a:latin typeface="Calibri"/>
              </a:rPr>
              <a:t>I/E Ratio:</a:t>
            </a:r>
            <a:r>
              <a:rPr sz="900" b="0" i="0">
                <a:solidFill>
                  <a:srgbClr val="2E3F5C"/>
                </a:solidFill>
                <a:latin typeface="Calibri"/>
              </a:rPr>
              <a:t>  Measures total effective gross income as a multiple of total expenses including debt service. SONYMA MIF requires a minimum of </a:t>
            </a:r>
            <a:r>
              <a:rPr sz="900" b="1" i="0">
                <a:solidFill>
                  <a:srgbClr val="1A2744"/>
                </a:solidFill>
                <a:latin typeface="Calibri"/>
              </a:rPr>
              <a:t>1.05×</a:t>
            </a:r>
            <a:r>
              <a:rPr sz="900" b="0" i="0">
                <a:solidFill>
                  <a:srgbClr val="2E3F5C"/>
                </a:solidFill>
                <a:latin typeface="Calibri"/>
              </a:rPr>
              <a:t>. The project achieves </a:t>
            </a:r>
            <a:r>
              <a:rPr sz="900" b="1" i="0">
                <a:solidFill>
                  <a:srgbClr val="2D7A4F"/>
                </a:solidFill>
                <a:latin typeface="Calibri"/>
              </a:rPr>
              <a:t>1.178× in Year 1</a:t>
            </a:r>
            <a:r>
              <a:rPr sz="900" b="0" i="0">
                <a:solidFill>
                  <a:srgbClr val="2E3F5C"/>
                </a:solidFill>
                <a:latin typeface="Calibri"/>
              </a:rPr>
              <a:t>, rising to 1.228× by Year 22 before stabilising — confirming sustained regulatory compliance across all 30 years.</a:t>
            </a:r>
          </a:p>
          <a:p>
            <a:pPr>
              <a:spcBef>
                <a:spcPts val="400"/>
              </a:spcBef>
            </a:pPr>
            <a:r>
              <a:rPr sz="900" b="1" i="0">
                <a:solidFill>
                  <a:srgbClr val="4A7EC0"/>
                </a:solidFill>
                <a:latin typeface="Calibri"/>
              </a:rPr>
              <a:t>DSCR:</a:t>
            </a:r>
            <a:r>
              <a:rPr sz="900" b="0" i="0">
                <a:solidFill>
                  <a:srgbClr val="2E3F5C"/>
                </a:solidFill>
                <a:latin typeface="Calibri"/>
              </a:rPr>
              <a:t>  Measures Net Operating Income as a multiple of annual debt service ($2.976M fixed). NCF Programme requires a minimum of </a:t>
            </a:r>
            <a:r>
              <a:rPr sz="900" b="1" i="0">
                <a:solidFill>
                  <a:srgbClr val="1A2744"/>
                </a:solidFill>
                <a:latin typeface="Calibri"/>
              </a:rPr>
              <a:t>1.15×</a:t>
            </a:r>
            <a:r>
              <a:rPr sz="900" b="0" i="0">
                <a:solidFill>
                  <a:srgbClr val="2E3F5C"/>
                </a:solidFill>
                <a:latin typeface="Calibri"/>
              </a:rPr>
              <a:t>. The project opens at </a:t>
            </a:r>
            <a:r>
              <a:rPr sz="900" b="1" i="0">
                <a:solidFill>
                  <a:srgbClr val="2D7A4F"/>
                </a:solidFill>
                <a:latin typeface="Calibri"/>
              </a:rPr>
              <a:t>1.379× in Year 1</a:t>
            </a:r>
            <a:r>
              <a:rPr sz="900" b="0" i="0">
                <a:solidFill>
                  <a:srgbClr val="2E3F5C"/>
                </a:solidFill>
                <a:latin typeface="Calibri"/>
              </a:rPr>
              <a:t> and improves steadily to </a:t>
            </a:r>
            <a:r>
              <a:rPr sz="900" b="1" i="0">
                <a:solidFill>
                  <a:srgbClr val="2D7A4F"/>
                </a:solidFill>
                <a:latin typeface="Calibri"/>
              </a:rPr>
              <a:t>1.796× by Year 30</a:t>
            </a:r>
            <a:r>
              <a:rPr sz="900" b="0" i="0">
                <a:solidFill>
                  <a:srgbClr val="2E3F5C"/>
                </a:solidFill>
                <a:latin typeface="Calibri"/>
              </a:rPr>
              <a:t> — driven by growing NOI against a fixed nominal debt obligation.</a:t>
            </a:r>
          </a:p>
        </p:txBody>
      </p:sp>
      <p:pic>
        <p:nvPicPr>
          <p:cNvPr id="9" name="Picture 8" descr="chart_ie.png"/>
          <p:cNvPicPr>
            <a:picLocks noChangeAspect="1"/>
          </p:cNvPicPr>
          <p:nvPr/>
        </p:nvPicPr>
        <p:blipFill>
          <a:blip r:embed="rId3"/>
          <a:stretch>
            <a:fillRect/>
          </a:stretch>
        </p:blipFill>
        <p:spPr>
          <a:xfrm>
            <a:off x="228600" y="2176272"/>
            <a:ext cx="4297680" cy="2697480"/>
          </a:xfrm>
          <a:prstGeom prst="rect">
            <a:avLst/>
          </a:prstGeom>
        </p:spPr>
      </p:pic>
      <p:sp>
        <p:nvSpPr>
          <p:cNvPr id="10" name="TextBox 9"/>
          <p:cNvSpPr txBox="1"/>
          <p:nvPr/>
        </p:nvSpPr>
        <p:spPr>
          <a:xfrm>
            <a:off x="228600" y="2121408"/>
            <a:ext cx="4297680" cy="201168"/>
          </a:xfrm>
          <a:prstGeom prst="rect">
            <a:avLst/>
          </a:prstGeom>
          <a:noFill/>
        </p:spPr>
        <p:txBody>
          <a:bodyPr wrap="none">
            <a:spAutoFit/>
          </a:bodyPr>
          <a:lstStyle/>
          <a:p>
            <a:r>
              <a:rPr sz="850" b="1" i="0">
                <a:solidFill>
                  <a:srgbClr val="1A2744"/>
                </a:solidFill>
                <a:latin typeface="Calibri"/>
              </a:rPr>
              <a:t>Income-to-Expense Ratio (I/E)  ·  Min. 1.05× (SONYMA MIF)</a:t>
            </a:r>
          </a:p>
        </p:txBody>
      </p:sp>
      <p:pic>
        <p:nvPicPr>
          <p:cNvPr id="11" name="Picture 10" descr="chart_dscr.png"/>
          <p:cNvPicPr>
            <a:picLocks noChangeAspect="1"/>
          </p:cNvPicPr>
          <p:nvPr/>
        </p:nvPicPr>
        <p:blipFill>
          <a:blip r:embed="rId4"/>
          <a:stretch>
            <a:fillRect/>
          </a:stretch>
        </p:blipFill>
        <p:spPr>
          <a:xfrm>
            <a:off x="4663440" y="2176272"/>
            <a:ext cx="4297680" cy="2697480"/>
          </a:xfrm>
          <a:prstGeom prst="rect">
            <a:avLst/>
          </a:prstGeom>
        </p:spPr>
      </p:pic>
      <p:sp>
        <p:nvSpPr>
          <p:cNvPr id="12" name="TextBox 11"/>
          <p:cNvSpPr txBox="1"/>
          <p:nvPr/>
        </p:nvSpPr>
        <p:spPr>
          <a:xfrm>
            <a:off x="4663440" y="2121408"/>
            <a:ext cx="4297680" cy="201168"/>
          </a:xfrm>
          <a:prstGeom prst="rect">
            <a:avLst/>
          </a:prstGeom>
          <a:noFill/>
        </p:spPr>
        <p:txBody>
          <a:bodyPr wrap="none">
            <a:spAutoFit/>
          </a:bodyPr>
          <a:lstStyle/>
          <a:p>
            <a:r>
              <a:rPr sz="850" b="1" i="0">
                <a:solidFill>
                  <a:srgbClr val="1A2744"/>
                </a:solidFill>
                <a:latin typeface="Calibri"/>
              </a:rPr>
              <a:t>Debt Service Coverage Ratio (DSCR)  ·  Min. 1.15× (NCF Programme)</a:t>
            </a:r>
          </a:p>
        </p:txBody>
      </p:sp>
      <p:sp>
        <p:nvSpPr>
          <p:cNvPr id="13" name="TextBox 12"/>
          <p:cNvSpPr txBox="1"/>
          <p:nvPr/>
        </p:nvSpPr>
        <p:spPr>
          <a:xfrm>
            <a:off x="8412480" y="4828032"/>
            <a:ext cx="548640" cy="201168"/>
          </a:xfrm>
          <a:prstGeom prst="rect">
            <a:avLst/>
          </a:prstGeom>
          <a:noFill/>
        </p:spPr>
        <p:txBody>
          <a:bodyPr wrap="none">
            <a:spAutoFit/>
          </a:bodyPr>
          <a:lstStyle/>
          <a:p>
            <a:pPr algn="r"/>
            <a:r>
              <a:rPr sz="900" b="0" i="0">
                <a:solidFill>
                  <a:srgbClr val="6B7A96"/>
                </a:solidFill>
                <a:latin typeface="Calibri"/>
              </a:rPr>
              <a:t>08</a:t>
            </a:r>
          </a:p>
        </p:txBody>
      </p:sp>
      <p:sp>
        <p:nvSpPr>
          <p:cNvPr id="14" name="TextBox 13"/>
          <p:cNvSpPr txBox="1"/>
          <p:nvPr/>
        </p:nvSpPr>
        <p:spPr>
          <a:xfrm>
            <a:off x="274320" y="4992624"/>
            <a:ext cx="8686800" cy="128016"/>
          </a:xfrm>
          <a:prstGeom prst="rect">
            <a:avLst/>
          </a:prstGeom>
          <a:noFill/>
        </p:spPr>
        <p:txBody>
          <a:bodyPr wrap="none">
            <a:spAutoFit/>
          </a:bodyPr>
          <a:lstStyle/>
          <a:p>
            <a:pPr algn="r"/>
            <a:r>
              <a:rPr sz="700" b="0" i="0">
                <a:solidFill>
                  <a:srgbClr val="6B7A96"/>
                </a:solidFill>
                <a:latin typeface="Calibri"/>
              </a:rPr>
              <a:t>Confidential / Academic Use Only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384048" y="182880"/>
            <a:ext cx="6858000" cy="530352"/>
          </a:xfrm>
          <a:prstGeom prst="rect">
            <a:avLst/>
          </a:prstGeom>
          <a:noFill/>
        </p:spPr>
        <p:txBody>
          <a:bodyPr wrap="none">
            <a:spAutoFit/>
          </a:bodyPr>
          <a:lstStyle/>
          <a:p>
            <a:r>
              <a:rPr sz="3000" b="0">
                <a:solidFill>
                  <a:srgbClr val="1A2744"/>
                </a:solidFill>
                <a:latin typeface="Georgia"/>
              </a:rPr>
              <a:t>Project Valuation</a:t>
            </a:r>
          </a:p>
        </p:txBody>
      </p:sp>
      <p:sp>
        <p:nvSpPr>
          <p:cNvPr id="4" name="Rectangle 3"/>
          <p:cNvSpPr/>
          <p:nvPr/>
        </p:nvSpPr>
        <p:spPr>
          <a:xfrm>
            <a:off x="384048" y="749808"/>
            <a:ext cx="2194560" cy="41148"/>
          </a:xfrm>
          <a:prstGeom prst="rect">
            <a:avLst/>
          </a:prstGeom>
          <a:solidFill>
            <a:srgbClr val="4A7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84048" y="822960"/>
            <a:ext cx="7772400" cy="237744"/>
          </a:xfrm>
          <a:prstGeom prst="rect">
            <a:avLst/>
          </a:prstGeom>
          <a:noFill/>
        </p:spPr>
        <p:txBody>
          <a:bodyPr wrap="none">
            <a:spAutoFit/>
          </a:bodyPr>
          <a:lstStyle/>
          <a:p>
            <a:r>
              <a:rPr sz="1000" b="0" i="1">
                <a:solidFill>
                  <a:srgbClr val="6B7A96"/>
                </a:solidFill>
                <a:latin typeface="Calibri"/>
              </a:rPr>
              <a:t>Capitalisation Rate Approach  ·  30-Year Property Value Projection (2029–2058)</a:t>
            </a:r>
          </a:p>
        </p:txBody>
      </p:sp>
      <p:sp>
        <p:nvSpPr>
          <p:cNvPr id="6" name="Rectangle 5"/>
          <p:cNvSpPr/>
          <p:nvPr/>
        </p:nvSpPr>
        <p:spPr>
          <a:xfrm>
            <a:off x="228600" y="1115568"/>
            <a:ext cx="3977639" cy="3840480"/>
          </a:xfrm>
          <a:prstGeom prst="rect">
            <a:avLst/>
          </a:prstGeom>
          <a:solidFill>
            <a:srgbClr val="FFFFFF"/>
          </a:solidFill>
          <a:ln w="9525">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28600" y="1115568"/>
            <a:ext cx="50292" cy="3840480"/>
          </a:xfrm>
          <a:prstGeom prst="rect">
            <a:avLst/>
          </a:prstGeom>
          <a:solidFill>
            <a:srgbClr val="4A7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1188720"/>
            <a:ext cx="3703320" cy="256032"/>
          </a:xfrm>
          <a:prstGeom prst="rect">
            <a:avLst/>
          </a:prstGeom>
          <a:noFill/>
        </p:spPr>
        <p:txBody>
          <a:bodyPr wrap="none">
            <a:spAutoFit/>
          </a:bodyPr>
          <a:lstStyle/>
          <a:p>
            <a:r>
              <a:rPr sz="950" b="1" i="0">
                <a:solidFill>
                  <a:srgbClr val="2D4EA2"/>
                </a:solidFill>
                <a:latin typeface="Calibri"/>
              </a:rPr>
              <a:t>Valuation Method</a:t>
            </a:r>
          </a:p>
        </p:txBody>
      </p:sp>
      <p:sp>
        <p:nvSpPr>
          <p:cNvPr id="9" name="TextBox 8"/>
          <p:cNvSpPr txBox="1"/>
          <p:nvPr/>
        </p:nvSpPr>
        <p:spPr>
          <a:xfrm>
            <a:off x="384048" y="1444752"/>
            <a:ext cx="3703320" cy="841248"/>
          </a:xfrm>
          <a:prstGeom prst="rect">
            <a:avLst/>
          </a:prstGeom>
          <a:noFill/>
        </p:spPr>
        <p:txBody>
          <a:bodyPr wrap="square">
            <a:spAutoFit/>
          </a:bodyPr>
          <a:lstStyle/>
          <a:p>
            <a:r>
              <a:rPr sz="850" b="0" i="0">
                <a:solidFill>
                  <a:srgbClr val="2E3F5C"/>
                </a:solidFill>
                <a:latin typeface="Calibri"/>
              </a:rPr>
              <a:t>Upstate House, LLC is valued using the Income Capitalisation (Cap Rate) method — the standard approach for income-producing affordable multi-family assets. Property value is derived by dividing stabilised Net Operating Income by the prevailing market cap rate for comparable regulated affordable assets in New York City.</a:t>
            </a:r>
          </a:p>
        </p:txBody>
      </p:sp>
      <p:sp>
        <p:nvSpPr>
          <p:cNvPr id="10" name="Rectangle 9"/>
          <p:cNvSpPr/>
          <p:nvPr/>
        </p:nvSpPr>
        <p:spPr>
          <a:xfrm>
            <a:off x="384048" y="2377440"/>
            <a:ext cx="3685032" cy="277977"/>
          </a:xfrm>
          <a:prstGeom prst="rect">
            <a:avLst/>
          </a:prstGeom>
          <a:solidFill>
            <a:srgbClr val="F0F5FF"/>
          </a:solidFill>
          <a:ln w="5080">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2414016"/>
            <a:ext cx="2331720" cy="223113"/>
          </a:xfrm>
          <a:prstGeom prst="rect">
            <a:avLst/>
          </a:prstGeom>
          <a:noFill/>
        </p:spPr>
        <p:txBody>
          <a:bodyPr wrap="none">
            <a:spAutoFit/>
          </a:bodyPr>
          <a:lstStyle/>
          <a:p>
            <a:r>
              <a:rPr sz="850" b="1" i="0">
                <a:solidFill>
                  <a:srgbClr val="2E3F5C"/>
                </a:solidFill>
                <a:latin typeface="Calibri"/>
              </a:rPr>
              <a:t>Implied Cap Rate</a:t>
            </a:r>
          </a:p>
        </p:txBody>
      </p:sp>
      <p:sp>
        <p:nvSpPr>
          <p:cNvPr id="12" name="TextBox 11"/>
          <p:cNvSpPr txBox="1"/>
          <p:nvPr/>
        </p:nvSpPr>
        <p:spPr>
          <a:xfrm>
            <a:off x="2651760" y="2414016"/>
            <a:ext cx="1298448" cy="223113"/>
          </a:xfrm>
          <a:prstGeom prst="rect">
            <a:avLst/>
          </a:prstGeom>
          <a:noFill/>
        </p:spPr>
        <p:txBody>
          <a:bodyPr wrap="none">
            <a:spAutoFit/>
          </a:bodyPr>
          <a:lstStyle/>
          <a:p>
            <a:pPr algn="r"/>
            <a:r>
              <a:rPr sz="850" b="1" i="0">
                <a:solidFill>
                  <a:srgbClr val="2D7A4F"/>
                </a:solidFill>
                <a:latin typeface="Calibri"/>
              </a:rPr>
              <a:t>≈ 7.0%</a:t>
            </a:r>
          </a:p>
        </p:txBody>
      </p:sp>
      <p:sp>
        <p:nvSpPr>
          <p:cNvPr id="13" name="Rectangle 12"/>
          <p:cNvSpPr/>
          <p:nvPr/>
        </p:nvSpPr>
        <p:spPr>
          <a:xfrm>
            <a:off x="384048" y="2655417"/>
            <a:ext cx="3685032" cy="277977"/>
          </a:xfrm>
          <a:prstGeom prst="rect">
            <a:avLst/>
          </a:prstGeom>
          <a:solidFill>
            <a:srgbClr val="FFFFFF"/>
          </a:solidFill>
          <a:ln w="5080">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2691993"/>
            <a:ext cx="2331720" cy="223113"/>
          </a:xfrm>
          <a:prstGeom prst="rect">
            <a:avLst/>
          </a:prstGeom>
          <a:noFill/>
        </p:spPr>
        <p:txBody>
          <a:bodyPr wrap="none">
            <a:spAutoFit/>
          </a:bodyPr>
          <a:lstStyle/>
          <a:p>
            <a:r>
              <a:rPr sz="850" b="0" i="0">
                <a:solidFill>
                  <a:srgbClr val="2E3F5C"/>
                </a:solidFill>
                <a:latin typeface="Calibri"/>
              </a:rPr>
              <a:t>NOI  (Year 1)</a:t>
            </a:r>
          </a:p>
        </p:txBody>
      </p:sp>
      <p:sp>
        <p:nvSpPr>
          <p:cNvPr id="15" name="TextBox 14"/>
          <p:cNvSpPr txBox="1"/>
          <p:nvPr/>
        </p:nvSpPr>
        <p:spPr>
          <a:xfrm>
            <a:off x="2651760" y="2691993"/>
            <a:ext cx="1298448" cy="223113"/>
          </a:xfrm>
          <a:prstGeom prst="rect">
            <a:avLst/>
          </a:prstGeom>
          <a:noFill/>
        </p:spPr>
        <p:txBody>
          <a:bodyPr wrap="none">
            <a:spAutoFit/>
          </a:bodyPr>
          <a:lstStyle/>
          <a:p>
            <a:pPr algn="r"/>
            <a:r>
              <a:rPr sz="850" b="1" i="0">
                <a:solidFill>
                  <a:srgbClr val="2D4EA2"/>
                </a:solidFill>
                <a:latin typeface="Calibri"/>
              </a:rPr>
              <a:t>$4,101,794</a:t>
            </a:r>
          </a:p>
        </p:txBody>
      </p:sp>
      <p:sp>
        <p:nvSpPr>
          <p:cNvPr id="16" name="Rectangle 15"/>
          <p:cNvSpPr/>
          <p:nvPr/>
        </p:nvSpPr>
        <p:spPr>
          <a:xfrm>
            <a:off x="384048" y="2933395"/>
            <a:ext cx="3685032" cy="277977"/>
          </a:xfrm>
          <a:prstGeom prst="rect">
            <a:avLst/>
          </a:prstGeom>
          <a:solidFill>
            <a:srgbClr val="F0F5FF"/>
          </a:solidFill>
          <a:ln w="5080">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969971"/>
            <a:ext cx="2331720" cy="223113"/>
          </a:xfrm>
          <a:prstGeom prst="rect">
            <a:avLst/>
          </a:prstGeom>
          <a:noFill/>
        </p:spPr>
        <p:txBody>
          <a:bodyPr wrap="none">
            <a:spAutoFit/>
          </a:bodyPr>
          <a:lstStyle/>
          <a:p>
            <a:r>
              <a:rPr sz="850" b="0" i="0">
                <a:solidFill>
                  <a:srgbClr val="2E3F5C"/>
                </a:solidFill>
                <a:latin typeface="Calibri"/>
              </a:rPr>
              <a:t>Property Value  (Year 1)</a:t>
            </a:r>
          </a:p>
        </p:txBody>
      </p:sp>
      <p:sp>
        <p:nvSpPr>
          <p:cNvPr id="18" name="TextBox 17"/>
          <p:cNvSpPr txBox="1"/>
          <p:nvPr/>
        </p:nvSpPr>
        <p:spPr>
          <a:xfrm>
            <a:off x="2651760" y="2969971"/>
            <a:ext cx="1298448" cy="223113"/>
          </a:xfrm>
          <a:prstGeom prst="rect">
            <a:avLst/>
          </a:prstGeom>
          <a:noFill/>
        </p:spPr>
        <p:txBody>
          <a:bodyPr wrap="none">
            <a:spAutoFit/>
          </a:bodyPr>
          <a:lstStyle/>
          <a:p>
            <a:pPr algn="r"/>
            <a:r>
              <a:rPr sz="850" b="1" i="0">
                <a:solidFill>
                  <a:srgbClr val="2D4EA2"/>
                </a:solidFill>
                <a:latin typeface="Calibri"/>
              </a:rPr>
              <a:t>$58,597,050</a:t>
            </a:r>
          </a:p>
        </p:txBody>
      </p:sp>
      <p:sp>
        <p:nvSpPr>
          <p:cNvPr id="19" name="Rectangle 18"/>
          <p:cNvSpPr/>
          <p:nvPr/>
        </p:nvSpPr>
        <p:spPr>
          <a:xfrm>
            <a:off x="384048" y="3211372"/>
            <a:ext cx="3685032" cy="277977"/>
          </a:xfrm>
          <a:prstGeom prst="rect">
            <a:avLst/>
          </a:prstGeom>
          <a:solidFill>
            <a:srgbClr val="FFFFFF"/>
          </a:solidFill>
          <a:ln w="5080">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247948"/>
            <a:ext cx="2331720" cy="223113"/>
          </a:xfrm>
          <a:prstGeom prst="rect">
            <a:avLst/>
          </a:prstGeom>
          <a:noFill/>
        </p:spPr>
        <p:txBody>
          <a:bodyPr wrap="none">
            <a:spAutoFit/>
          </a:bodyPr>
          <a:lstStyle/>
          <a:p>
            <a:r>
              <a:rPr sz="850" b="0" i="0">
                <a:solidFill>
                  <a:srgbClr val="2E3F5C"/>
                </a:solidFill>
                <a:latin typeface="Calibri"/>
              </a:rPr>
              <a:t>Property Value  (Year 30)</a:t>
            </a:r>
          </a:p>
        </p:txBody>
      </p:sp>
      <p:sp>
        <p:nvSpPr>
          <p:cNvPr id="21" name="TextBox 20"/>
          <p:cNvSpPr txBox="1"/>
          <p:nvPr/>
        </p:nvSpPr>
        <p:spPr>
          <a:xfrm>
            <a:off x="2651760" y="3247948"/>
            <a:ext cx="1298448" cy="223113"/>
          </a:xfrm>
          <a:prstGeom prst="rect">
            <a:avLst/>
          </a:prstGeom>
          <a:noFill/>
        </p:spPr>
        <p:txBody>
          <a:bodyPr wrap="none">
            <a:spAutoFit/>
          </a:bodyPr>
          <a:lstStyle/>
          <a:p>
            <a:pPr algn="r"/>
            <a:r>
              <a:rPr sz="850" b="1" i="0">
                <a:solidFill>
                  <a:srgbClr val="2D4EA2"/>
                </a:solidFill>
                <a:latin typeface="Calibri"/>
              </a:rPr>
              <a:t>$76,343,138</a:t>
            </a:r>
          </a:p>
        </p:txBody>
      </p:sp>
      <p:sp>
        <p:nvSpPr>
          <p:cNvPr id="22" name="Rectangle 21"/>
          <p:cNvSpPr/>
          <p:nvPr/>
        </p:nvSpPr>
        <p:spPr>
          <a:xfrm>
            <a:off x="384048" y="3489350"/>
            <a:ext cx="3685032" cy="277977"/>
          </a:xfrm>
          <a:prstGeom prst="rect">
            <a:avLst/>
          </a:prstGeom>
          <a:solidFill>
            <a:srgbClr val="F0F5FF"/>
          </a:solidFill>
          <a:ln w="5080">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3525926"/>
            <a:ext cx="2331720" cy="223113"/>
          </a:xfrm>
          <a:prstGeom prst="rect">
            <a:avLst/>
          </a:prstGeom>
          <a:noFill/>
        </p:spPr>
        <p:txBody>
          <a:bodyPr wrap="none">
            <a:spAutoFit/>
          </a:bodyPr>
          <a:lstStyle/>
          <a:p>
            <a:r>
              <a:rPr sz="850" b="0" i="0">
                <a:solidFill>
                  <a:srgbClr val="2E3F5C"/>
                </a:solidFill>
                <a:latin typeface="Calibri"/>
              </a:rPr>
              <a:t>Total Appreciation</a:t>
            </a:r>
          </a:p>
        </p:txBody>
      </p:sp>
      <p:sp>
        <p:nvSpPr>
          <p:cNvPr id="24" name="TextBox 23"/>
          <p:cNvSpPr txBox="1"/>
          <p:nvPr/>
        </p:nvSpPr>
        <p:spPr>
          <a:xfrm>
            <a:off x="2651760" y="3525926"/>
            <a:ext cx="1298448" cy="223113"/>
          </a:xfrm>
          <a:prstGeom prst="rect">
            <a:avLst/>
          </a:prstGeom>
          <a:noFill/>
        </p:spPr>
        <p:txBody>
          <a:bodyPr wrap="none">
            <a:spAutoFit/>
          </a:bodyPr>
          <a:lstStyle/>
          <a:p>
            <a:pPr algn="r"/>
            <a:r>
              <a:rPr sz="850" b="1" i="0">
                <a:solidFill>
                  <a:srgbClr val="2D4EA2"/>
                </a:solidFill>
                <a:latin typeface="Calibri"/>
              </a:rPr>
              <a:t>+$17,746,088</a:t>
            </a:r>
          </a:p>
        </p:txBody>
      </p:sp>
      <p:sp>
        <p:nvSpPr>
          <p:cNvPr id="25" name="Rectangle 24"/>
          <p:cNvSpPr/>
          <p:nvPr/>
        </p:nvSpPr>
        <p:spPr>
          <a:xfrm>
            <a:off x="384048" y="3767328"/>
            <a:ext cx="3685032" cy="277977"/>
          </a:xfrm>
          <a:prstGeom prst="rect">
            <a:avLst/>
          </a:prstGeom>
          <a:solidFill>
            <a:srgbClr val="FFFFFF"/>
          </a:solidFill>
          <a:ln w="5080">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3803904"/>
            <a:ext cx="2331720" cy="223113"/>
          </a:xfrm>
          <a:prstGeom prst="rect">
            <a:avLst/>
          </a:prstGeom>
          <a:noFill/>
        </p:spPr>
        <p:txBody>
          <a:bodyPr wrap="none">
            <a:spAutoFit/>
          </a:bodyPr>
          <a:lstStyle/>
          <a:p>
            <a:r>
              <a:rPr sz="850" b="0" i="0">
                <a:solidFill>
                  <a:srgbClr val="2E3F5C"/>
                </a:solidFill>
                <a:latin typeface="Calibri"/>
              </a:rPr>
              <a:t>Gross Rent Multiplier  Yr 1</a:t>
            </a:r>
          </a:p>
        </p:txBody>
      </p:sp>
      <p:sp>
        <p:nvSpPr>
          <p:cNvPr id="27" name="TextBox 26"/>
          <p:cNvSpPr txBox="1"/>
          <p:nvPr/>
        </p:nvSpPr>
        <p:spPr>
          <a:xfrm>
            <a:off x="2651760" y="3803904"/>
            <a:ext cx="1298448" cy="223113"/>
          </a:xfrm>
          <a:prstGeom prst="rect">
            <a:avLst/>
          </a:prstGeom>
          <a:noFill/>
        </p:spPr>
        <p:txBody>
          <a:bodyPr wrap="none">
            <a:spAutoFit/>
          </a:bodyPr>
          <a:lstStyle/>
          <a:p>
            <a:pPr algn="r"/>
            <a:r>
              <a:rPr sz="850" b="1" i="0">
                <a:solidFill>
                  <a:srgbClr val="2D4EA2"/>
                </a:solidFill>
                <a:latin typeface="Calibri"/>
              </a:rPr>
              <a:t>7.87×</a:t>
            </a:r>
          </a:p>
        </p:txBody>
      </p:sp>
      <p:sp>
        <p:nvSpPr>
          <p:cNvPr id="28" name="Rectangle 27"/>
          <p:cNvSpPr/>
          <p:nvPr/>
        </p:nvSpPr>
        <p:spPr>
          <a:xfrm>
            <a:off x="384048" y="4045305"/>
            <a:ext cx="3685032" cy="277977"/>
          </a:xfrm>
          <a:prstGeom prst="rect">
            <a:avLst/>
          </a:prstGeom>
          <a:solidFill>
            <a:srgbClr val="F0F5FF"/>
          </a:solidFill>
          <a:ln w="5080">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 y="4081881"/>
            <a:ext cx="2331720" cy="223113"/>
          </a:xfrm>
          <a:prstGeom prst="rect">
            <a:avLst/>
          </a:prstGeom>
          <a:noFill/>
        </p:spPr>
        <p:txBody>
          <a:bodyPr wrap="none">
            <a:spAutoFit/>
          </a:bodyPr>
          <a:lstStyle/>
          <a:p>
            <a:r>
              <a:rPr sz="850" b="0" i="0">
                <a:solidFill>
                  <a:srgbClr val="2E3F5C"/>
                </a:solidFill>
                <a:latin typeface="Calibri"/>
              </a:rPr>
              <a:t>Gross Rent Multiplier  Yr 30</a:t>
            </a:r>
          </a:p>
        </p:txBody>
      </p:sp>
      <p:sp>
        <p:nvSpPr>
          <p:cNvPr id="30" name="TextBox 29"/>
          <p:cNvSpPr txBox="1"/>
          <p:nvPr/>
        </p:nvSpPr>
        <p:spPr>
          <a:xfrm>
            <a:off x="2651760" y="4081881"/>
            <a:ext cx="1298448" cy="223113"/>
          </a:xfrm>
          <a:prstGeom prst="rect">
            <a:avLst/>
          </a:prstGeom>
          <a:noFill/>
        </p:spPr>
        <p:txBody>
          <a:bodyPr wrap="none">
            <a:spAutoFit/>
          </a:bodyPr>
          <a:lstStyle/>
          <a:p>
            <a:pPr algn="r"/>
            <a:r>
              <a:rPr sz="850" b="1" i="0">
                <a:solidFill>
                  <a:srgbClr val="2D4EA2"/>
                </a:solidFill>
                <a:latin typeface="Calibri"/>
              </a:rPr>
              <a:t>5.78×</a:t>
            </a:r>
          </a:p>
        </p:txBody>
      </p:sp>
      <p:sp>
        <p:nvSpPr>
          <p:cNvPr id="31" name="TextBox 30"/>
          <p:cNvSpPr txBox="1"/>
          <p:nvPr/>
        </p:nvSpPr>
        <p:spPr>
          <a:xfrm>
            <a:off x="384048" y="4352544"/>
            <a:ext cx="3703320" cy="512064"/>
          </a:xfrm>
          <a:prstGeom prst="rect">
            <a:avLst/>
          </a:prstGeom>
          <a:noFill/>
        </p:spPr>
        <p:txBody>
          <a:bodyPr wrap="square">
            <a:spAutoFit/>
          </a:bodyPr>
          <a:lstStyle/>
          <a:p>
            <a:r>
              <a:rPr sz="780" b="0" i="1">
                <a:solidFill>
                  <a:srgbClr val="6B7A96"/>
                </a:solidFill>
                <a:latin typeface="Calibri"/>
              </a:rPr>
              <a:t>The declining GRM (7.87× → 5.78×) reflects income growing faster than capital value over the 30-year horizon — a structural feature of AMI-regulated assets where rent growth is bounded by covenant constraints.</a:t>
            </a:r>
          </a:p>
        </p:txBody>
      </p:sp>
      <p:sp>
        <p:nvSpPr>
          <p:cNvPr id="32" name="TextBox 31"/>
          <p:cNvSpPr txBox="1"/>
          <p:nvPr/>
        </p:nvSpPr>
        <p:spPr>
          <a:xfrm>
            <a:off x="4343400" y="1115568"/>
            <a:ext cx="4572000" cy="237744"/>
          </a:xfrm>
          <a:prstGeom prst="rect">
            <a:avLst/>
          </a:prstGeom>
          <a:noFill/>
        </p:spPr>
        <p:txBody>
          <a:bodyPr wrap="none">
            <a:spAutoFit/>
          </a:bodyPr>
          <a:lstStyle/>
          <a:p>
            <a:r>
              <a:rPr sz="900" b="1" i="0">
                <a:solidFill>
                  <a:srgbClr val="1A2744"/>
                </a:solidFill>
                <a:latin typeface="Calibri"/>
              </a:rPr>
              <a:t>Property Value (USD Millions)  ·  2029–2058</a:t>
            </a:r>
          </a:p>
        </p:txBody>
      </p:sp>
      <p:graphicFrame>
        <p:nvGraphicFramePr>
          <p:cNvPr id="33" name="Chart 32"/>
          <p:cNvGraphicFramePr>
            <a:graphicFrameLocks noGrp="1"/>
          </p:cNvGraphicFramePr>
          <p:nvPr/>
        </p:nvGraphicFramePr>
        <p:xfrm>
          <a:off x="4279392" y="1389888"/>
          <a:ext cx="466344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34" name="TextBox 33"/>
          <p:cNvSpPr txBox="1"/>
          <p:nvPr/>
        </p:nvSpPr>
        <p:spPr>
          <a:xfrm>
            <a:off x="8412480" y="4828032"/>
            <a:ext cx="548640" cy="201168"/>
          </a:xfrm>
          <a:prstGeom prst="rect">
            <a:avLst/>
          </a:prstGeom>
          <a:noFill/>
        </p:spPr>
        <p:txBody>
          <a:bodyPr wrap="none">
            <a:spAutoFit/>
          </a:bodyPr>
          <a:lstStyle/>
          <a:p>
            <a:pPr algn="r"/>
            <a:r>
              <a:rPr sz="900" b="0" i="0">
                <a:solidFill>
                  <a:srgbClr val="6B7A96"/>
                </a:solidFill>
                <a:latin typeface="Calibri"/>
              </a:rPr>
              <a:t>09</a:t>
            </a:r>
          </a:p>
        </p:txBody>
      </p:sp>
      <p:sp>
        <p:nvSpPr>
          <p:cNvPr id="35" name="TextBox 34"/>
          <p:cNvSpPr txBox="1"/>
          <p:nvPr/>
        </p:nvSpPr>
        <p:spPr>
          <a:xfrm>
            <a:off x="274320" y="4992624"/>
            <a:ext cx="8686800" cy="128016"/>
          </a:xfrm>
          <a:prstGeom prst="rect">
            <a:avLst/>
          </a:prstGeom>
          <a:noFill/>
        </p:spPr>
        <p:txBody>
          <a:bodyPr wrap="none">
            <a:spAutoFit/>
          </a:bodyPr>
          <a:lstStyle/>
          <a:p>
            <a:pPr algn="r"/>
            <a:r>
              <a:rPr sz="700" b="0" i="0">
                <a:solidFill>
                  <a:srgbClr val="6B7A96"/>
                </a:solidFill>
                <a:latin typeface="Calibri"/>
              </a:rPr>
              <a:t>Confidential / Academic Use Only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384048" y="182880"/>
            <a:ext cx="7315200" cy="530352"/>
          </a:xfrm>
          <a:prstGeom prst="rect">
            <a:avLst/>
          </a:prstGeom>
          <a:noFill/>
        </p:spPr>
        <p:txBody>
          <a:bodyPr wrap="none">
            <a:spAutoFit/>
          </a:bodyPr>
          <a:lstStyle/>
          <a:p>
            <a:r>
              <a:rPr sz="3000" b="0">
                <a:solidFill>
                  <a:srgbClr val="1A2744"/>
                </a:solidFill>
                <a:latin typeface="Georgia"/>
              </a:rPr>
              <a:t>Learning Outcomes</a:t>
            </a:r>
          </a:p>
        </p:txBody>
      </p:sp>
      <p:sp>
        <p:nvSpPr>
          <p:cNvPr id="4" name="Rectangle 3"/>
          <p:cNvSpPr/>
          <p:nvPr/>
        </p:nvSpPr>
        <p:spPr>
          <a:xfrm>
            <a:off x="384048" y="749808"/>
            <a:ext cx="2194560" cy="41148"/>
          </a:xfrm>
          <a:prstGeom prst="rect">
            <a:avLst/>
          </a:prstGeom>
          <a:solidFill>
            <a:srgbClr val="4A7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84048" y="822960"/>
            <a:ext cx="7315200" cy="237744"/>
          </a:xfrm>
          <a:prstGeom prst="rect">
            <a:avLst/>
          </a:prstGeom>
          <a:noFill/>
        </p:spPr>
        <p:txBody>
          <a:bodyPr wrap="none">
            <a:spAutoFit/>
          </a:bodyPr>
          <a:lstStyle/>
          <a:p>
            <a:r>
              <a:rPr sz="1000" b="0" i="1">
                <a:solidFill>
                  <a:srgbClr val="6B7A96"/>
                </a:solidFill>
                <a:latin typeface="Calibri"/>
              </a:rPr>
              <a:t>Key competencies developed through this dissertation and internship engagement</a:t>
            </a:r>
          </a:p>
        </p:txBody>
      </p:sp>
      <p:sp>
        <p:nvSpPr>
          <p:cNvPr id="6" name="Rectangle 5"/>
          <p:cNvSpPr/>
          <p:nvPr/>
        </p:nvSpPr>
        <p:spPr>
          <a:xfrm>
            <a:off x="228600" y="1133856"/>
            <a:ext cx="2770632" cy="1719072"/>
          </a:xfrm>
          <a:prstGeom prst="rect">
            <a:avLst/>
          </a:prstGeom>
          <a:solidFill>
            <a:srgbClr val="FFFFFF"/>
          </a:solidFill>
          <a:ln w="9525">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28600" y="1133856"/>
            <a:ext cx="2770632" cy="50292"/>
          </a:xfrm>
          <a:prstGeom prst="rect">
            <a:avLst/>
          </a:prstGeom>
          <a:solidFill>
            <a:srgbClr val="2D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365760" y="1261872"/>
            <a:ext cx="402336" cy="402336"/>
          </a:xfrm>
          <a:prstGeom prst="ellipse">
            <a:avLst/>
          </a:prstGeom>
          <a:solidFill>
            <a:srgbClr val="2D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261872"/>
            <a:ext cx="402336" cy="402336"/>
          </a:xfrm>
          <a:prstGeom prst="rect">
            <a:avLst/>
          </a:prstGeom>
          <a:noFill/>
        </p:spPr>
        <p:txBody>
          <a:bodyPr wrap="none">
            <a:spAutoFit/>
          </a:bodyPr>
          <a:lstStyle/>
          <a:p>
            <a:pPr algn="ctr"/>
            <a:r>
              <a:rPr sz="1000" b="1" i="0">
                <a:solidFill>
                  <a:srgbClr val="FFFFFF"/>
                </a:solidFill>
                <a:latin typeface="Calibri"/>
              </a:rPr>
              <a:t>01</a:t>
            </a:r>
          </a:p>
        </p:txBody>
      </p:sp>
      <p:sp>
        <p:nvSpPr>
          <p:cNvPr id="10" name="TextBox 9"/>
          <p:cNvSpPr txBox="1"/>
          <p:nvPr/>
        </p:nvSpPr>
        <p:spPr>
          <a:xfrm>
            <a:off x="868680" y="1243584"/>
            <a:ext cx="2020824" cy="530352"/>
          </a:xfrm>
          <a:prstGeom prst="rect">
            <a:avLst/>
          </a:prstGeom>
          <a:noFill/>
        </p:spPr>
        <p:txBody>
          <a:bodyPr wrap="square">
            <a:spAutoFit/>
          </a:bodyPr>
          <a:lstStyle/>
          <a:p>
            <a:r>
              <a:rPr sz="919" b="1" i="0">
                <a:solidFill>
                  <a:srgbClr val="1A2744"/>
                </a:solidFill>
                <a:latin typeface="Calibri"/>
              </a:rPr>
              <a:t>Financial Modelling
&amp; Pro Forma Analysis</a:t>
            </a:r>
          </a:p>
        </p:txBody>
      </p:sp>
      <p:sp>
        <p:nvSpPr>
          <p:cNvPr id="11" name="Rectangle 10"/>
          <p:cNvSpPr/>
          <p:nvPr/>
        </p:nvSpPr>
        <p:spPr>
          <a:xfrm>
            <a:off x="365760" y="1792224"/>
            <a:ext cx="2514600" cy="27432"/>
          </a:xfrm>
          <a:prstGeom prst="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1865376"/>
            <a:ext cx="2514600" cy="896112"/>
          </a:xfrm>
          <a:prstGeom prst="rect">
            <a:avLst/>
          </a:prstGeom>
          <a:noFill/>
        </p:spPr>
        <p:txBody>
          <a:bodyPr wrap="square">
            <a:spAutoFit/>
          </a:bodyPr>
          <a:lstStyle/>
          <a:p>
            <a:r>
              <a:rPr sz="780" b="0" i="0">
                <a:solidFill>
                  <a:srgbClr val="2E3F5C"/>
                </a:solidFill>
                <a:latin typeface="Calibri"/>
              </a:rPr>
              <a:t>Constructed a multi-sheet Excel financial model capturing a full development pro forma — sources &amp; uses, income projections, operating expenses, debt sizing, and 30-year net cash flow analysis.</a:t>
            </a:r>
          </a:p>
        </p:txBody>
      </p:sp>
      <p:sp>
        <p:nvSpPr>
          <p:cNvPr id="13" name="Rectangle 12"/>
          <p:cNvSpPr/>
          <p:nvPr/>
        </p:nvSpPr>
        <p:spPr>
          <a:xfrm>
            <a:off x="3172968" y="1133856"/>
            <a:ext cx="2770632" cy="1719072"/>
          </a:xfrm>
          <a:prstGeom prst="rect">
            <a:avLst/>
          </a:prstGeom>
          <a:solidFill>
            <a:srgbClr val="FFFFFF"/>
          </a:solidFill>
          <a:ln w="9525">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172968" y="1133856"/>
            <a:ext cx="2770632" cy="50292"/>
          </a:xfrm>
          <a:prstGeom prst="rect">
            <a:avLst/>
          </a:prstGeom>
          <a:solidFill>
            <a:srgbClr val="2D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3310128" y="1261872"/>
            <a:ext cx="402336" cy="402336"/>
          </a:xfrm>
          <a:prstGeom prst="ellipse">
            <a:avLst/>
          </a:prstGeom>
          <a:solidFill>
            <a:srgbClr val="2D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310128" y="1261872"/>
            <a:ext cx="402336" cy="402336"/>
          </a:xfrm>
          <a:prstGeom prst="rect">
            <a:avLst/>
          </a:prstGeom>
          <a:noFill/>
        </p:spPr>
        <p:txBody>
          <a:bodyPr wrap="none">
            <a:spAutoFit/>
          </a:bodyPr>
          <a:lstStyle/>
          <a:p>
            <a:pPr algn="ctr"/>
            <a:r>
              <a:rPr sz="1000" b="1" i="0">
                <a:solidFill>
                  <a:srgbClr val="FFFFFF"/>
                </a:solidFill>
                <a:latin typeface="Calibri"/>
              </a:rPr>
              <a:t>02</a:t>
            </a:r>
          </a:p>
        </p:txBody>
      </p:sp>
      <p:sp>
        <p:nvSpPr>
          <p:cNvPr id="17" name="TextBox 16"/>
          <p:cNvSpPr txBox="1"/>
          <p:nvPr/>
        </p:nvSpPr>
        <p:spPr>
          <a:xfrm>
            <a:off x="3813048" y="1243584"/>
            <a:ext cx="2020824" cy="530352"/>
          </a:xfrm>
          <a:prstGeom prst="rect">
            <a:avLst/>
          </a:prstGeom>
          <a:noFill/>
        </p:spPr>
        <p:txBody>
          <a:bodyPr wrap="square">
            <a:spAutoFit/>
          </a:bodyPr>
          <a:lstStyle/>
          <a:p>
            <a:r>
              <a:rPr sz="919" b="1" i="0">
                <a:solidFill>
                  <a:srgbClr val="1A2744"/>
                </a:solidFill>
                <a:latin typeface="Calibri"/>
              </a:rPr>
              <a:t>Market Research
&amp; Data Application</a:t>
            </a:r>
          </a:p>
        </p:txBody>
      </p:sp>
      <p:sp>
        <p:nvSpPr>
          <p:cNvPr id="18" name="Rectangle 17"/>
          <p:cNvSpPr/>
          <p:nvPr/>
        </p:nvSpPr>
        <p:spPr>
          <a:xfrm>
            <a:off x="3310128" y="1792224"/>
            <a:ext cx="2514600" cy="27432"/>
          </a:xfrm>
          <a:prstGeom prst="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310128" y="1865376"/>
            <a:ext cx="2514600" cy="896112"/>
          </a:xfrm>
          <a:prstGeom prst="rect">
            <a:avLst/>
          </a:prstGeom>
          <a:noFill/>
        </p:spPr>
        <p:txBody>
          <a:bodyPr wrap="square">
            <a:spAutoFit/>
          </a:bodyPr>
          <a:lstStyle/>
          <a:p>
            <a:r>
              <a:rPr sz="780" b="0" i="0">
                <a:solidFill>
                  <a:srgbClr val="2E3F5C"/>
                </a:solidFill>
                <a:latin typeface="Calibri"/>
              </a:rPr>
              <a:t>Applied HUD Area Median Income and rent limit schedules, NYC construction cost benchmarks, and market capitalisation rates to calibrate all financial assumptions to live market conditions.</a:t>
            </a:r>
          </a:p>
        </p:txBody>
      </p:sp>
      <p:sp>
        <p:nvSpPr>
          <p:cNvPr id="20" name="Rectangle 19"/>
          <p:cNvSpPr/>
          <p:nvPr/>
        </p:nvSpPr>
        <p:spPr>
          <a:xfrm>
            <a:off x="6117336" y="1133856"/>
            <a:ext cx="2770632" cy="1719072"/>
          </a:xfrm>
          <a:prstGeom prst="rect">
            <a:avLst/>
          </a:prstGeom>
          <a:solidFill>
            <a:srgbClr val="FFFFFF"/>
          </a:solidFill>
          <a:ln w="9525">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17336" y="1133856"/>
            <a:ext cx="2770632" cy="50292"/>
          </a:xfrm>
          <a:prstGeom prst="rect">
            <a:avLst/>
          </a:prstGeom>
          <a:solidFill>
            <a:srgbClr val="2D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254496" y="1261872"/>
            <a:ext cx="402336" cy="402336"/>
          </a:xfrm>
          <a:prstGeom prst="ellipse">
            <a:avLst/>
          </a:prstGeom>
          <a:solidFill>
            <a:srgbClr val="2D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54496" y="1261872"/>
            <a:ext cx="402336" cy="402336"/>
          </a:xfrm>
          <a:prstGeom prst="rect">
            <a:avLst/>
          </a:prstGeom>
          <a:noFill/>
        </p:spPr>
        <p:txBody>
          <a:bodyPr wrap="none">
            <a:spAutoFit/>
          </a:bodyPr>
          <a:lstStyle/>
          <a:p>
            <a:pPr algn="ctr"/>
            <a:r>
              <a:rPr sz="1000" b="1" i="0">
                <a:solidFill>
                  <a:srgbClr val="FFFFFF"/>
                </a:solidFill>
                <a:latin typeface="Calibri"/>
              </a:rPr>
              <a:t>03</a:t>
            </a:r>
          </a:p>
        </p:txBody>
      </p:sp>
      <p:sp>
        <p:nvSpPr>
          <p:cNvPr id="24" name="TextBox 23"/>
          <p:cNvSpPr txBox="1"/>
          <p:nvPr/>
        </p:nvSpPr>
        <p:spPr>
          <a:xfrm>
            <a:off x="6757416" y="1243584"/>
            <a:ext cx="2020824" cy="530352"/>
          </a:xfrm>
          <a:prstGeom prst="rect">
            <a:avLst/>
          </a:prstGeom>
          <a:noFill/>
        </p:spPr>
        <p:txBody>
          <a:bodyPr wrap="square">
            <a:spAutoFit/>
          </a:bodyPr>
          <a:lstStyle/>
          <a:p>
            <a:r>
              <a:rPr sz="919" b="1" i="0">
                <a:solidFill>
                  <a:srgbClr val="1A2744"/>
                </a:solidFill>
                <a:latin typeface="Calibri"/>
              </a:rPr>
              <a:t>Advanced Microsoft Excel
&amp; Spreadsheet Engineering</a:t>
            </a:r>
          </a:p>
        </p:txBody>
      </p:sp>
      <p:sp>
        <p:nvSpPr>
          <p:cNvPr id="25" name="Rectangle 24"/>
          <p:cNvSpPr/>
          <p:nvPr/>
        </p:nvSpPr>
        <p:spPr>
          <a:xfrm>
            <a:off x="6254496" y="1792224"/>
            <a:ext cx="2514600" cy="27432"/>
          </a:xfrm>
          <a:prstGeom prst="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54496" y="1865376"/>
            <a:ext cx="2514600" cy="896112"/>
          </a:xfrm>
          <a:prstGeom prst="rect">
            <a:avLst/>
          </a:prstGeom>
          <a:noFill/>
        </p:spPr>
        <p:txBody>
          <a:bodyPr wrap="square">
            <a:spAutoFit/>
          </a:bodyPr>
          <a:lstStyle/>
          <a:p>
            <a:r>
              <a:rPr sz="780" b="0" i="0">
                <a:solidFill>
                  <a:srgbClr val="2E3F5C"/>
                </a:solidFill>
                <a:latin typeface="Calibri"/>
              </a:rPr>
              <a:t>Developed expertise in dynamic formula design, linked multi-sheet architecture, sensitivity tables, and structured data validation — enabling robust and auditable analytical output.</a:t>
            </a:r>
          </a:p>
        </p:txBody>
      </p:sp>
      <p:sp>
        <p:nvSpPr>
          <p:cNvPr id="27" name="Rectangle 26"/>
          <p:cNvSpPr/>
          <p:nvPr/>
        </p:nvSpPr>
        <p:spPr>
          <a:xfrm>
            <a:off x="228600" y="3017520"/>
            <a:ext cx="2770632" cy="1719072"/>
          </a:xfrm>
          <a:prstGeom prst="rect">
            <a:avLst/>
          </a:prstGeom>
          <a:solidFill>
            <a:srgbClr val="FFFFFF"/>
          </a:solidFill>
          <a:ln w="9525">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28600" y="3017520"/>
            <a:ext cx="2770632" cy="50292"/>
          </a:xfrm>
          <a:prstGeom prst="rect">
            <a:avLst/>
          </a:prstGeom>
          <a:solidFill>
            <a:srgbClr val="2D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365760" y="3145536"/>
            <a:ext cx="402336" cy="402336"/>
          </a:xfrm>
          <a:prstGeom prst="ellipse">
            <a:avLst/>
          </a:prstGeom>
          <a:solidFill>
            <a:srgbClr val="2D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65760" y="3145536"/>
            <a:ext cx="402336" cy="402336"/>
          </a:xfrm>
          <a:prstGeom prst="rect">
            <a:avLst/>
          </a:prstGeom>
          <a:noFill/>
        </p:spPr>
        <p:txBody>
          <a:bodyPr wrap="none">
            <a:spAutoFit/>
          </a:bodyPr>
          <a:lstStyle/>
          <a:p>
            <a:pPr algn="ctr"/>
            <a:r>
              <a:rPr sz="1000" b="1" i="0">
                <a:solidFill>
                  <a:srgbClr val="FFFFFF"/>
                </a:solidFill>
                <a:latin typeface="Calibri"/>
              </a:rPr>
              <a:t>04</a:t>
            </a:r>
          </a:p>
        </p:txBody>
      </p:sp>
      <p:sp>
        <p:nvSpPr>
          <p:cNvPr id="31" name="TextBox 30"/>
          <p:cNvSpPr txBox="1"/>
          <p:nvPr/>
        </p:nvSpPr>
        <p:spPr>
          <a:xfrm>
            <a:off x="868680" y="3127248"/>
            <a:ext cx="2020824" cy="530352"/>
          </a:xfrm>
          <a:prstGeom prst="rect">
            <a:avLst/>
          </a:prstGeom>
          <a:noFill/>
        </p:spPr>
        <p:txBody>
          <a:bodyPr wrap="square">
            <a:spAutoFit/>
          </a:bodyPr>
          <a:lstStyle/>
          <a:p>
            <a:r>
              <a:rPr sz="919" b="1" i="0">
                <a:solidFill>
                  <a:srgbClr val="1A2744"/>
                </a:solidFill>
                <a:latin typeface="Calibri"/>
              </a:rPr>
              <a:t>Affordable Housing Finance
&amp; Public Subsidy Structuring</a:t>
            </a:r>
          </a:p>
        </p:txBody>
      </p:sp>
      <p:sp>
        <p:nvSpPr>
          <p:cNvPr id="32" name="Rectangle 31"/>
          <p:cNvSpPr/>
          <p:nvPr/>
        </p:nvSpPr>
        <p:spPr>
          <a:xfrm>
            <a:off x="365760" y="3675887"/>
            <a:ext cx="2514600" cy="27432"/>
          </a:xfrm>
          <a:prstGeom prst="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65760" y="3749039"/>
            <a:ext cx="2514600" cy="896112"/>
          </a:xfrm>
          <a:prstGeom prst="rect">
            <a:avLst/>
          </a:prstGeom>
          <a:noFill/>
        </p:spPr>
        <p:txBody>
          <a:bodyPr wrap="square">
            <a:spAutoFit/>
          </a:bodyPr>
          <a:lstStyle/>
          <a:p>
            <a:r>
              <a:rPr sz="780" b="0" i="0">
                <a:solidFill>
                  <a:srgbClr val="2E3F5C"/>
                </a:solidFill>
                <a:latin typeface="Calibri"/>
              </a:rPr>
              <a:t>Gained applied understanding of the HPD NCF programme, 4% LIHTC equity mechanics, tax-exempt bond financing, SONYMA MIF credit enhancement, and AMI-tier rent regulation in the NYC context.</a:t>
            </a:r>
          </a:p>
        </p:txBody>
      </p:sp>
      <p:sp>
        <p:nvSpPr>
          <p:cNvPr id="34" name="Rectangle 33"/>
          <p:cNvSpPr/>
          <p:nvPr/>
        </p:nvSpPr>
        <p:spPr>
          <a:xfrm>
            <a:off x="3172968" y="3017520"/>
            <a:ext cx="2770632" cy="1719072"/>
          </a:xfrm>
          <a:prstGeom prst="rect">
            <a:avLst/>
          </a:prstGeom>
          <a:solidFill>
            <a:srgbClr val="FFFFFF"/>
          </a:solidFill>
          <a:ln w="9525">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172968" y="3017520"/>
            <a:ext cx="2770632" cy="50292"/>
          </a:xfrm>
          <a:prstGeom prst="rect">
            <a:avLst/>
          </a:prstGeom>
          <a:solidFill>
            <a:srgbClr val="2D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3310128" y="3145536"/>
            <a:ext cx="402336" cy="402336"/>
          </a:xfrm>
          <a:prstGeom prst="ellipse">
            <a:avLst/>
          </a:prstGeom>
          <a:solidFill>
            <a:srgbClr val="2D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310128" y="3145536"/>
            <a:ext cx="402336" cy="402336"/>
          </a:xfrm>
          <a:prstGeom prst="rect">
            <a:avLst/>
          </a:prstGeom>
          <a:noFill/>
        </p:spPr>
        <p:txBody>
          <a:bodyPr wrap="none">
            <a:spAutoFit/>
          </a:bodyPr>
          <a:lstStyle/>
          <a:p>
            <a:pPr algn="ctr"/>
            <a:r>
              <a:rPr sz="1000" b="1" i="0">
                <a:solidFill>
                  <a:srgbClr val="FFFFFF"/>
                </a:solidFill>
                <a:latin typeface="Calibri"/>
              </a:rPr>
              <a:t>05</a:t>
            </a:r>
          </a:p>
        </p:txBody>
      </p:sp>
      <p:sp>
        <p:nvSpPr>
          <p:cNvPr id="38" name="TextBox 37"/>
          <p:cNvSpPr txBox="1"/>
          <p:nvPr/>
        </p:nvSpPr>
        <p:spPr>
          <a:xfrm>
            <a:off x="3813048" y="3127248"/>
            <a:ext cx="2020824" cy="530352"/>
          </a:xfrm>
          <a:prstGeom prst="rect">
            <a:avLst/>
          </a:prstGeom>
          <a:noFill/>
        </p:spPr>
        <p:txBody>
          <a:bodyPr wrap="square">
            <a:spAutoFit/>
          </a:bodyPr>
          <a:lstStyle/>
          <a:p>
            <a:r>
              <a:rPr sz="919" b="1" i="0">
                <a:solidFill>
                  <a:srgbClr val="1A2744"/>
                </a:solidFill>
                <a:latin typeface="Calibri"/>
              </a:rPr>
              <a:t>Development Budgeting
&amp; Capital Stack Construction</a:t>
            </a:r>
          </a:p>
        </p:txBody>
      </p:sp>
      <p:sp>
        <p:nvSpPr>
          <p:cNvPr id="39" name="Rectangle 38"/>
          <p:cNvSpPr/>
          <p:nvPr/>
        </p:nvSpPr>
        <p:spPr>
          <a:xfrm>
            <a:off x="3310128" y="3675887"/>
            <a:ext cx="2514600" cy="27432"/>
          </a:xfrm>
          <a:prstGeom prst="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310128" y="3749039"/>
            <a:ext cx="2514600" cy="896112"/>
          </a:xfrm>
          <a:prstGeom prst="rect">
            <a:avLst/>
          </a:prstGeom>
          <a:noFill/>
        </p:spPr>
        <p:txBody>
          <a:bodyPr wrap="square">
            <a:spAutoFit/>
          </a:bodyPr>
          <a:lstStyle/>
          <a:p>
            <a:r>
              <a:rPr sz="780" b="0" i="0">
                <a:solidFill>
                  <a:srgbClr val="2E3F5C"/>
                </a:solidFill>
                <a:latin typeface="Calibri"/>
              </a:rPr>
              <a:t>Structured a USD 248.7 million development budget across acquisition, hard costs, soft costs, and developer fee — and assembled a compliant permanent capital stack with no residual funding gap.</a:t>
            </a:r>
          </a:p>
        </p:txBody>
      </p:sp>
      <p:sp>
        <p:nvSpPr>
          <p:cNvPr id="41" name="Rectangle 40"/>
          <p:cNvSpPr/>
          <p:nvPr/>
        </p:nvSpPr>
        <p:spPr>
          <a:xfrm>
            <a:off x="6117336" y="3017520"/>
            <a:ext cx="2770632" cy="1719072"/>
          </a:xfrm>
          <a:prstGeom prst="rect">
            <a:avLst/>
          </a:prstGeom>
          <a:solidFill>
            <a:srgbClr val="FFFFFF"/>
          </a:solidFill>
          <a:ln w="9525">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117336" y="3017520"/>
            <a:ext cx="2770632" cy="50292"/>
          </a:xfrm>
          <a:prstGeom prst="rect">
            <a:avLst/>
          </a:prstGeom>
          <a:solidFill>
            <a:srgbClr val="2D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6254496" y="3145536"/>
            <a:ext cx="402336" cy="402336"/>
          </a:xfrm>
          <a:prstGeom prst="ellipse">
            <a:avLst/>
          </a:prstGeom>
          <a:solidFill>
            <a:srgbClr val="2D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254496" y="3145536"/>
            <a:ext cx="402336" cy="402336"/>
          </a:xfrm>
          <a:prstGeom prst="rect">
            <a:avLst/>
          </a:prstGeom>
          <a:noFill/>
        </p:spPr>
        <p:txBody>
          <a:bodyPr wrap="none">
            <a:spAutoFit/>
          </a:bodyPr>
          <a:lstStyle/>
          <a:p>
            <a:pPr algn="ctr"/>
            <a:r>
              <a:rPr sz="1000" b="1" i="0">
                <a:solidFill>
                  <a:srgbClr val="FFFFFF"/>
                </a:solidFill>
                <a:latin typeface="Calibri"/>
              </a:rPr>
              <a:t>06</a:t>
            </a:r>
          </a:p>
        </p:txBody>
      </p:sp>
      <p:sp>
        <p:nvSpPr>
          <p:cNvPr id="45" name="TextBox 44"/>
          <p:cNvSpPr txBox="1"/>
          <p:nvPr/>
        </p:nvSpPr>
        <p:spPr>
          <a:xfrm>
            <a:off x="6757416" y="3127248"/>
            <a:ext cx="2020824" cy="530352"/>
          </a:xfrm>
          <a:prstGeom prst="rect">
            <a:avLst/>
          </a:prstGeom>
          <a:noFill/>
        </p:spPr>
        <p:txBody>
          <a:bodyPr wrap="square">
            <a:spAutoFit/>
          </a:bodyPr>
          <a:lstStyle/>
          <a:p>
            <a:r>
              <a:rPr sz="919" b="1" i="0">
                <a:solidFill>
                  <a:srgbClr val="1A2744"/>
                </a:solidFill>
                <a:latin typeface="Calibri"/>
              </a:rPr>
              <a:t>Financial Feasibility
&amp; Investment Viability Assessment</a:t>
            </a:r>
          </a:p>
        </p:txBody>
      </p:sp>
      <p:sp>
        <p:nvSpPr>
          <p:cNvPr id="46" name="Rectangle 45"/>
          <p:cNvSpPr/>
          <p:nvPr/>
        </p:nvSpPr>
        <p:spPr>
          <a:xfrm>
            <a:off x="6254496" y="3675887"/>
            <a:ext cx="2514600" cy="27432"/>
          </a:xfrm>
          <a:prstGeom prst="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54496" y="3749039"/>
            <a:ext cx="2514600" cy="896112"/>
          </a:xfrm>
          <a:prstGeom prst="rect">
            <a:avLst/>
          </a:prstGeom>
          <a:noFill/>
        </p:spPr>
        <p:txBody>
          <a:bodyPr wrap="square">
            <a:spAutoFit/>
          </a:bodyPr>
          <a:lstStyle/>
          <a:p>
            <a:r>
              <a:rPr sz="780" b="0" i="0">
                <a:solidFill>
                  <a:srgbClr val="2E3F5C"/>
                </a:solidFill>
                <a:latin typeface="Calibri"/>
              </a:rPr>
              <a:t>Evaluated long-run operational profitability through DSCR, I/E ratio, NOI trajectory, net cash flow analysis, and capitalisation rate valuation — benchmarked against applicable regulatory thresholds.</a:t>
            </a:r>
          </a:p>
        </p:txBody>
      </p:sp>
      <p:sp>
        <p:nvSpPr>
          <p:cNvPr id="48" name="TextBox 47"/>
          <p:cNvSpPr txBox="1"/>
          <p:nvPr/>
        </p:nvSpPr>
        <p:spPr>
          <a:xfrm>
            <a:off x="8412480" y="4828032"/>
            <a:ext cx="548640" cy="201168"/>
          </a:xfrm>
          <a:prstGeom prst="rect">
            <a:avLst/>
          </a:prstGeom>
          <a:noFill/>
        </p:spPr>
        <p:txBody>
          <a:bodyPr wrap="none">
            <a:spAutoFit/>
          </a:bodyPr>
          <a:lstStyle/>
          <a:p>
            <a:pPr algn="r"/>
            <a:r>
              <a:rPr sz="900" b="0" i="0">
                <a:solidFill>
                  <a:srgbClr val="6B7A96"/>
                </a:solidFill>
                <a:latin typeface="Calibri"/>
              </a:rPr>
              <a:t>10</a:t>
            </a:r>
          </a:p>
        </p:txBody>
      </p:sp>
      <p:sp>
        <p:nvSpPr>
          <p:cNvPr id="49" name="TextBox 48"/>
          <p:cNvSpPr txBox="1"/>
          <p:nvPr/>
        </p:nvSpPr>
        <p:spPr>
          <a:xfrm>
            <a:off x="274320" y="4992624"/>
            <a:ext cx="8686800" cy="128016"/>
          </a:xfrm>
          <a:prstGeom prst="rect">
            <a:avLst/>
          </a:prstGeom>
          <a:noFill/>
        </p:spPr>
        <p:txBody>
          <a:bodyPr wrap="none">
            <a:spAutoFit/>
          </a:bodyPr>
          <a:lstStyle/>
          <a:p>
            <a:pPr algn="r"/>
            <a:r>
              <a:rPr sz="700" b="0" i="0">
                <a:solidFill>
                  <a:srgbClr val="6B7A96"/>
                </a:solidFill>
                <a:latin typeface="Calibri"/>
              </a:rPr>
              <a:t>Confidential / Academic Use Only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0292"/>
          </a:xfrm>
          <a:prstGeom prst="rect">
            <a:avLst/>
          </a:prstGeom>
          <a:solidFill>
            <a:srgbClr val="2D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84048" y="960120"/>
            <a:ext cx="5943600" cy="1097280"/>
          </a:xfrm>
          <a:prstGeom prst="rect">
            <a:avLst/>
          </a:prstGeom>
          <a:noFill/>
        </p:spPr>
        <p:txBody>
          <a:bodyPr wrap="none">
            <a:spAutoFit/>
          </a:bodyPr>
          <a:lstStyle/>
          <a:p>
            <a:r>
              <a:rPr sz="5400" b="0" i="0">
                <a:solidFill>
                  <a:srgbClr val="1A2744"/>
                </a:solidFill>
                <a:latin typeface="Georgia"/>
              </a:rPr>
              <a:t>Thank You</a:t>
            </a:r>
          </a:p>
        </p:txBody>
      </p:sp>
      <p:sp>
        <p:nvSpPr>
          <p:cNvPr id="5" name="Rectangle 4"/>
          <p:cNvSpPr/>
          <p:nvPr/>
        </p:nvSpPr>
        <p:spPr>
          <a:xfrm>
            <a:off x="384048" y="2148840"/>
            <a:ext cx="4389120" cy="50292"/>
          </a:xfrm>
          <a:prstGeom prst="rect">
            <a:avLst/>
          </a:prstGeom>
          <a:solidFill>
            <a:srgbClr val="4A7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84048" y="2267712"/>
            <a:ext cx="5943600" cy="310896"/>
          </a:xfrm>
          <a:prstGeom prst="rect">
            <a:avLst/>
          </a:prstGeom>
          <a:noFill/>
        </p:spPr>
        <p:txBody>
          <a:bodyPr wrap="none">
            <a:spAutoFit/>
          </a:bodyPr>
          <a:lstStyle/>
          <a:p>
            <a:r>
              <a:rPr sz="1400" b="0" i="1">
                <a:solidFill>
                  <a:srgbClr val="2E3F5C"/>
                </a:solidFill>
                <a:latin typeface="Georgia"/>
              </a:rPr>
              <a:t>Financial Feasibility of Upstate House, LLC</a:t>
            </a:r>
          </a:p>
        </p:txBody>
      </p:sp>
      <p:sp>
        <p:nvSpPr>
          <p:cNvPr id="7" name="TextBox 6"/>
          <p:cNvSpPr txBox="1"/>
          <p:nvPr/>
        </p:nvSpPr>
        <p:spPr>
          <a:xfrm>
            <a:off x="384048" y="2606040"/>
            <a:ext cx="5943600" cy="237744"/>
          </a:xfrm>
          <a:prstGeom prst="rect">
            <a:avLst/>
          </a:prstGeom>
          <a:noFill/>
        </p:spPr>
        <p:txBody>
          <a:bodyPr wrap="none">
            <a:spAutoFit/>
          </a:bodyPr>
          <a:lstStyle/>
          <a:p>
            <a:r>
              <a:rPr sz="1050" b="0" i="0">
                <a:solidFill>
                  <a:srgbClr val="6B7A96"/>
                </a:solidFill>
                <a:latin typeface="Calibri"/>
              </a:rPr>
              <a:t>HPD New Construction Finance (NCF) Programme  ·  329 Units  ·  New York City</a:t>
            </a:r>
          </a:p>
        </p:txBody>
      </p:sp>
      <p:sp>
        <p:nvSpPr>
          <p:cNvPr id="8" name="Rectangle 7"/>
          <p:cNvSpPr/>
          <p:nvPr/>
        </p:nvSpPr>
        <p:spPr>
          <a:xfrm>
            <a:off x="0" y="4096512"/>
            <a:ext cx="9144000" cy="1046988"/>
          </a:xfrm>
          <a:prstGeom prst="rect">
            <a:avLst/>
          </a:prstGeom>
          <a:solidFill>
            <a:srgbClr val="F2F6FC"/>
          </a:solidFill>
          <a:ln w="6350">
            <a:solidFill>
              <a:srgbClr val="D8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5093208"/>
            <a:ext cx="9144000" cy="50292"/>
          </a:xfrm>
          <a:prstGeom prst="rect">
            <a:avLst/>
          </a:prstGeom>
          <a:solidFill>
            <a:srgbClr val="2D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84048" y="4160520"/>
            <a:ext cx="4572000" cy="201168"/>
          </a:xfrm>
          <a:prstGeom prst="rect">
            <a:avLst/>
          </a:prstGeom>
          <a:noFill/>
        </p:spPr>
        <p:txBody>
          <a:bodyPr wrap="none">
            <a:spAutoFit/>
          </a:bodyPr>
          <a:lstStyle/>
          <a:p>
            <a:r>
              <a:rPr sz="800" b="0" i="0">
                <a:solidFill>
                  <a:srgbClr val="6B7A96"/>
                </a:solidFill>
                <a:latin typeface="Calibri"/>
              </a:rPr>
              <a:t>Presented by</a:t>
            </a:r>
          </a:p>
        </p:txBody>
      </p:sp>
      <p:sp>
        <p:nvSpPr>
          <p:cNvPr id="11" name="TextBox 10"/>
          <p:cNvSpPr txBox="1"/>
          <p:nvPr/>
        </p:nvSpPr>
        <p:spPr>
          <a:xfrm>
            <a:off x="384048" y="4325112"/>
            <a:ext cx="4572000" cy="347472"/>
          </a:xfrm>
          <a:prstGeom prst="rect">
            <a:avLst/>
          </a:prstGeom>
          <a:noFill/>
        </p:spPr>
        <p:txBody>
          <a:bodyPr wrap="none">
            <a:spAutoFit/>
          </a:bodyPr>
          <a:lstStyle/>
          <a:p>
            <a:r>
              <a:rPr sz="1800" b="1" i="0">
                <a:solidFill>
                  <a:srgbClr val="1A2744"/>
                </a:solidFill>
                <a:latin typeface="Calibri"/>
              </a:rPr>
              <a:t>Abdullah Khizr</a:t>
            </a:r>
          </a:p>
        </p:txBody>
      </p:sp>
      <p:sp>
        <p:nvSpPr>
          <p:cNvPr id="12" name="TextBox 11"/>
          <p:cNvSpPr txBox="1"/>
          <p:nvPr/>
        </p:nvSpPr>
        <p:spPr>
          <a:xfrm>
            <a:off x="384048" y="4663440"/>
            <a:ext cx="6400800" cy="201168"/>
          </a:xfrm>
          <a:prstGeom prst="rect">
            <a:avLst/>
          </a:prstGeom>
          <a:noFill/>
        </p:spPr>
        <p:txBody>
          <a:bodyPr wrap="none">
            <a:spAutoFit/>
          </a:bodyPr>
          <a:lstStyle/>
          <a:p>
            <a:r>
              <a:rPr sz="800" b="0" i="0">
                <a:solidFill>
                  <a:srgbClr val="6B7A96"/>
                </a:solidFill>
                <a:latin typeface="Calibri"/>
              </a:rPr>
              <a:t>Roll No. 24MFE002  |  M.Sc. Banking &amp; Financial Analytics  |  Dept. of Economics, Jamia Millia Islamia, New Delhi</a:t>
            </a:r>
          </a:p>
        </p:txBody>
      </p:sp>
      <p:sp>
        <p:nvSpPr>
          <p:cNvPr id="13" name="TextBox 12"/>
          <p:cNvSpPr txBox="1"/>
          <p:nvPr/>
        </p:nvSpPr>
        <p:spPr>
          <a:xfrm>
            <a:off x="6400800" y="4160520"/>
            <a:ext cx="2560320" cy="201168"/>
          </a:xfrm>
          <a:prstGeom prst="rect">
            <a:avLst/>
          </a:prstGeom>
          <a:noFill/>
        </p:spPr>
        <p:txBody>
          <a:bodyPr wrap="none">
            <a:spAutoFit/>
          </a:bodyPr>
          <a:lstStyle/>
          <a:p>
            <a:pPr algn="r"/>
            <a:r>
              <a:rPr sz="750" b="0" i="0">
                <a:solidFill>
                  <a:srgbClr val="6B7A96"/>
                </a:solidFill>
                <a:latin typeface="Calibri"/>
              </a:rPr>
              <a:t>Internal Supervisor</a:t>
            </a:r>
          </a:p>
        </p:txBody>
      </p:sp>
      <p:sp>
        <p:nvSpPr>
          <p:cNvPr id="14" name="TextBox 13"/>
          <p:cNvSpPr txBox="1"/>
          <p:nvPr/>
        </p:nvSpPr>
        <p:spPr>
          <a:xfrm>
            <a:off x="6400800" y="4325112"/>
            <a:ext cx="2560320" cy="256032"/>
          </a:xfrm>
          <a:prstGeom prst="rect">
            <a:avLst/>
          </a:prstGeom>
          <a:noFill/>
        </p:spPr>
        <p:txBody>
          <a:bodyPr wrap="none">
            <a:spAutoFit/>
          </a:bodyPr>
          <a:lstStyle/>
          <a:p>
            <a:pPr algn="r"/>
            <a:r>
              <a:rPr sz="1200" b="1" i="0">
                <a:solidFill>
                  <a:srgbClr val="1A2744"/>
                </a:solidFill>
                <a:latin typeface="Calibri"/>
              </a:rPr>
              <a:t>Dr M. A. F. Noor</a:t>
            </a:r>
          </a:p>
        </p:txBody>
      </p:sp>
      <p:sp>
        <p:nvSpPr>
          <p:cNvPr id="15" name="TextBox 14"/>
          <p:cNvSpPr txBox="1"/>
          <p:nvPr/>
        </p:nvSpPr>
        <p:spPr>
          <a:xfrm>
            <a:off x="6400800" y="4590288"/>
            <a:ext cx="2560320" cy="182880"/>
          </a:xfrm>
          <a:prstGeom prst="rect">
            <a:avLst/>
          </a:prstGeom>
          <a:noFill/>
        </p:spPr>
        <p:txBody>
          <a:bodyPr wrap="none">
            <a:spAutoFit/>
          </a:bodyPr>
          <a:lstStyle/>
          <a:p>
            <a:pPr algn="r"/>
            <a:r>
              <a:rPr sz="750" b="0" i="0">
                <a:solidFill>
                  <a:srgbClr val="6B7A96"/>
                </a:solidFill>
                <a:latin typeface="Calibri"/>
              </a:rPr>
              <a:t>External Supervisor</a:t>
            </a:r>
          </a:p>
        </p:txBody>
      </p:sp>
      <p:sp>
        <p:nvSpPr>
          <p:cNvPr id="16" name="TextBox 15"/>
          <p:cNvSpPr txBox="1"/>
          <p:nvPr/>
        </p:nvSpPr>
        <p:spPr>
          <a:xfrm>
            <a:off x="5303520" y="4745736"/>
            <a:ext cx="3657600" cy="201168"/>
          </a:xfrm>
          <a:prstGeom prst="rect">
            <a:avLst/>
          </a:prstGeom>
          <a:noFill/>
        </p:spPr>
        <p:txBody>
          <a:bodyPr wrap="none">
            <a:spAutoFit/>
          </a:bodyPr>
          <a:lstStyle/>
          <a:p>
            <a:pPr algn="r"/>
            <a:r>
              <a:rPr sz="850" b="1" i="0">
                <a:solidFill>
                  <a:srgbClr val="1A2744"/>
                </a:solidFill>
                <a:latin typeface="Calibri"/>
              </a:rPr>
              <a:t>Mr. Haroon Khan  |  Jazaa Business Services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348</TotalTime>
  <Words>2042</Words>
  <Application>Microsoft Office PowerPoint</Application>
  <PresentationFormat>On-screen Show (16:9)</PresentationFormat>
  <Paragraphs>197</Paragraphs>
  <Slides>11</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ABDULLAH KHIZR</cp:lastModifiedBy>
  <cp:revision>3</cp:revision>
  <dcterms:created xsi:type="dcterms:W3CDTF">2026-05-10T01:04:11Z</dcterms:created>
  <dcterms:modified xsi:type="dcterms:W3CDTF">2026-05-12T00:38:48Z</dcterms:modified>
</cp:coreProperties>
</file>